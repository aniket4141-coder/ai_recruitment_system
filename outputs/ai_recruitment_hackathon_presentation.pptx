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core value proposition: an end-to-end hiring intelligence system.</a:t>
            </a:r>
          </a:p>
          <a:p>
            <a:r>
              <a:t>Emphasize semantic matching, modular scoring, explainability, and a recruiter-friendly dashboard.</a:t>
            </a:r>
          </a:p>
          <a:p>
            <a:r>
              <a:t>Suggested visual: dark hero slide with three feature cards and compact technology chips.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audience through the pain of manual screening: too many resumes, too little time, and too much noise.</a:t>
            </a:r>
          </a:p>
          <a:p>
            <a:r>
              <a:t>Point out that the real issue is not only matching, but matching with context and trust.</a:t>
            </a:r>
          </a:p>
          <a:p>
            <a:r>
              <a:t>Suggested visual: a funnel or pressure chart showing large input volume narrowing to a few trusted candidates.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the objective is not to remove recruiters from the loop, but to give them a better triage layer.</a:t>
            </a:r>
          </a:p>
          <a:p>
            <a:r>
              <a:t>Highlight three gaps: brittleness, opacity, and scale.</a:t>
            </a:r>
          </a:p>
          <a:p>
            <a:r>
              <a:t>Suggested visual: a three-column comparison with warning styling and a bottom takeaway banner.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solution as a pipeline: inputs, scoring modules, ranking, and export.</a:t>
            </a:r>
          </a:p>
          <a:p>
            <a:r>
              <a:t>Call out that modularity makes the system easier to improve during a hackathon and easier to maintain later.</a:t>
            </a:r>
          </a:p>
          <a:p>
            <a:r>
              <a:t>Suggested visual: four connected blocks with short labels and a compact conclusion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the architecture from top to bottom: inputs, parsing, scoring, and outputs.</a:t>
            </a:r>
          </a:p>
          <a:p>
            <a:r>
              <a:t>Emphasize that the separation of concerns makes the system easy to extend with new signals.</a:t>
            </a:r>
          </a:p>
          <a:p>
            <a:r>
              <a:t>Suggested visual: a vertical layered diagram with a clear arrow flow from input to CSV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pipeline in the order it executes, from file load through CSV export.</a:t>
            </a:r>
          </a:p>
          <a:p>
            <a:r>
              <a:t>Highlight the batching strategy as the key scale optimization.</a:t>
            </a:r>
          </a:p>
          <a:p>
            <a:r>
              <a:t>Suggested visual: a horizontal workflow with a performance callout panel underneath.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stack from application code to NLP and dashboarding.</a:t>
            </a:r>
          </a:p>
          <a:p>
            <a:r>
              <a:t>Mention that the stack is intentionally familiar and production-friendly for a hackathon audience.</a:t>
            </a:r>
          </a:p>
          <a:p>
            <a:r>
              <a:t>Suggested visual: a 2x3 grid of technology tiles with color-coded accents.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semantic matching is the first major quality filter because it captures meaning rather than just exact tokens.</a:t>
            </a:r>
          </a:p>
          <a:p>
            <a:r>
              <a:t>Mention the batch encoding approach and the fallback path as production reliability choices.</a:t>
            </a:r>
          </a:p>
          <a:p>
            <a:r>
              <a:t>Suggested visual: two inputs flowing into an embedding model and a similarity score gauge.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weighted blend and why it is better than a single opaque score.</a:t>
            </a:r>
          </a:p>
          <a:p>
            <a:r>
              <a:t>Point out that the ranking is deterministic and stable, which is important for trust and repeatability.</a:t>
            </a:r>
          </a:p>
          <a:p>
            <a:r>
              <a:t>Suggested visual: a formula card with labeled score chips and a callout that the final rank is easy to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the dashboard as the human interface for the ranking engine.</a:t>
            </a:r>
          </a:p>
          <a:p>
            <a:r>
              <a:t>Call out the filters, ranked list, and explainability panel as the three most important UX elements.</a:t>
            </a:r>
          </a:p>
          <a:p>
            <a:r>
              <a:t>Suggested visual: a polished app mockup with sidebar filters, candidate rows, and a details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the benefit story practical: speed, relevance, trust, and handoff.</a:t>
            </a:r>
          </a:p>
          <a:p>
            <a:r>
              <a:t>Avoid making hard performance claims unless measured; focus on business impact and demo value.</a:t>
            </a:r>
          </a:p>
          <a:p>
            <a:r>
              <a:t>Suggested visual: four benefit cards plus a short bottom-line conclusion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summarizing the product value: better matching, better trust, and better workflow fit.</a:t>
            </a:r>
          </a:p>
          <a:p>
            <a:r>
              <a:t>Mention the next natural step is a feedback loop from recruiters to continuously improve the model.</a:t>
            </a:r>
          </a:p>
          <a:p>
            <a:r>
              <a:t>Suggested visual: a short roadmap on one side and a strong closing statement on the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8DFDEF3-72C4-4B02-BAB0-7D6B50D6E8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2C3EB01-10C1-49F8-AA69-82AE3C0E7195}"/>
              </a:ext>
            </a:extLst>
          </p:cNvPr>
          <p:cNvSpPr>
            <a:spLocks noGrp="1"/>
          </p:cNvSpPr>
          <p:nvPr/>
        </p:nvSpPr>
        <p:spPr>
          <a:xfrm>
            <a:off x="9620250" y="-381000"/>
            <a:ext cx="3238500" cy="3238500"/>
          </a:xfrm>
          <a:prstGeom prst="ellipse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114E90A-ECC5-4ECF-92C8-7160E6011CA0}"/>
              </a:ext>
            </a:extLst>
          </p:cNvPr>
          <p:cNvSpPr>
            <a:spLocks noGrp="1"/>
          </p:cNvSpPr>
          <p:nvPr/>
        </p:nvSpPr>
        <p:spPr>
          <a:xfrm>
            <a:off x="10382250" y="1714500"/>
            <a:ext cx="2476500" cy="247650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4" name="tp">
            <a:extLst>
              <a:ext uri="{FF2B5EF4-FFF2-40B4-BE49-F238E27FC236}">
                <a16:creationId xmlns:a16="http://schemas.microsoft.com/office/drawing/2014/main" id="{490CB1C9-5BA2-4D17-A0A8-D8B51E096E03}"/>
              </a:ext>
            </a:extLst>
          </p:cNvPr>
          <p:cNvSpPr>
            <a:spLocks noGrp="1"/>
          </p:cNvSpPr>
          <p:nvPr/>
        </p:nvSpPr>
        <p:spPr>
          <a:xfrm>
            <a:off x="838200" y="685800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5" name="tp-t">
            <a:extLst>
              <a:ext uri="{FF2B5EF4-FFF2-40B4-BE49-F238E27FC236}">
                <a16:creationId xmlns:a16="http://schemas.microsoft.com/office/drawing/2014/main" id="{805F7EEA-5420-4333-A089-7CBDB2F78B56}"/>
              </a:ext>
            </a:extLst>
          </p:cNvPr>
          <p:cNvSpPr>
            <a:spLocks noGrp="1"/>
          </p:cNvSpPr>
          <p:nvPr/>
        </p:nvSpPr>
        <p:spPr>
          <a:xfrm>
            <a:off x="838200" y="695325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&amp; AI HACKATHON</a:t>
            </a:r>
          </a:p>
        </p:txBody>
      </p:sp>
      <p:sp>
        <p:nvSpPr>
          <p:cNvPr id="6" name="tt">
            <a:extLst>
              <a:ext uri="{FF2B5EF4-FFF2-40B4-BE49-F238E27FC236}">
                <a16:creationId xmlns:a16="http://schemas.microsoft.com/office/drawing/2014/main" id="{47FA0AA4-6612-435D-9A51-1EB114002476}"/>
              </a:ext>
            </a:extLst>
          </p:cNvPr>
          <p:cNvSpPr>
            <a:spLocks noGrp="1"/>
          </p:cNvSpPr>
          <p:nvPr/>
        </p:nvSpPr>
        <p:spPr>
          <a:xfrm>
            <a:off x="838200" y="1219200"/>
            <a:ext cx="6667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286" lnSpcReduction="10000"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Recruitment System</a:t>
            </a:r>
          </a:p>
          <a:p>
            <a:pPr algn="l"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 smarter resume screening and explainable ranking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67FCFA-EFF5-46AD-9AC6-582B18B46935}"/>
              </a:ext>
            </a:extLst>
          </p:cNvPr>
          <p:cNvSpPr>
            <a:spLocks noGrp="1"/>
          </p:cNvSpPr>
          <p:nvPr/>
        </p:nvSpPr>
        <p:spPr>
          <a:xfrm>
            <a:off x="838200" y="3048000"/>
            <a:ext cx="6286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Semantic resume matching, candidate ranking, skill scoring, behavioral analysis, product fit, title relevance, and recruiter-friendly explanations in one end-to-end workflow.</a:t>
            </a:r>
          </a:p>
        </p:txBody>
      </p:sp>
      <p:sp>
        <p:nvSpPr>
          <p:cNvPr id="8" name="chip0">
            <a:extLst>
              <a:ext uri="{FF2B5EF4-FFF2-40B4-BE49-F238E27FC236}">
                <a16:creationId xmlns:a16="http://schemas.microsoft.com/office/drawing/2014/main" id="{D49C03BF-1803-459D-AF82-B71815919AF3}"/>
              </a:ext>
            </a:extLst>
          </p:cNvPr>
          <p:cNvSpPr>
            <a:spLocks noGrp="1"/>
          </p:cNvSpPr>
          <p:nvPr/>
        </p:nvSpPr>
        <p:spPr>
          <a:xfrm>
            <a:off x="838200" y="4762500"/>
            <a:ext cx="1295400" cy="28575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9" name="chip0-t">
            <a:extLst>
              <a:ext uri="{FF2B5EF4-FFF2-40B4-BE49-F238E27FC236}">
                <a16:creationId xmlns:a16="http://schemas.microsoft.com/office/drawing/2014/main" id="{808790B2-2C60-4E69-84F8-561D67DCEF0A}"/>
              </a:ext>
            </a:extLst>
          </p:cNvPr>
          <p:cNvSpPr>
            <a:spLocks noGrp="1"/>
          </p:cNvSpPr>
          <p:nvPr/>
        </p:nvSpPr>
        <p:spPr>
          <a:xfrm>
            <a:off x="838200" y="4772025"/>
            <a:ext cx="129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Python</a:t>
            </a:r>
          </a:p>
        </p:txBody>
      </p:sp>
      <p:sp>
        <p:nvSpPr>
          <p:cNvPr id="10" name="chip1">
            <a:extLst>
              <a:ext uri="{FF2B5EF4-FFF2-40B4-BE49-F238E27FC236}">
                <a16:creationId xmlns:a16="http://schemas.microsoft.com/office/drawing/2014/main" id="{11DF91A5-B9AE-4D3D-ADDB-2770A118A988}"/>
              </a:ext>
            </a:extLst>
          </p:cNvPr>
          <p:cNvSpPr>
            <a:spLocks noGrp="1"/>
          </p:cNvSpPr>
          <p:nvPr/>
        </p:nvSpPr>
        <p:spPr>
          <a:xfrm>
            <a:off x="2247900" y="4762500"/>
            <a:ext cx="1295400" cy="285750"/>
          </a:xfrm>
          <a:prstGeom prst="roundRect">
            <a:avLst>
              <a:gd name="adj" fmla="val 26667"/>
            </a:avLst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11" name="chip1-t">
            <a:extLst>
              <a:ext uri="{FF2B5EF4-FFF2-40B4-BE49-F238E27FC236}">
                <a16:creationId xmlns:a16="http://schemas.microsoft.com/office/drawing/2014/main" id="{910C8A1E-877F-41AD-88F1-258ACDEE8432}"/>
              </a:ext>
            </a:extLst>
          </p:cNvPr>
          <p:cNvSpPr>
            <a:spLocks noGrp="1"/>
          </p:cNvSpPr>
          <p:nvPr/>
        </p:nvSpPr>
        <p:spPr>
          <a:xfrm>
            <a:off x="2247900" y="4772025"/>
            <a:ext cx="129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Sentence Transformers</a:t>
            </a:r>
          </a:p>
        </p:txBody>
      </p:sp>
      <p:sp>
        <p:nvSpPr>
          <p:cNvPr id="12" name="chip2">
            <a:extLst>
              <a:ext uri="{FF2B5EF4-FFF2-40B4-BE49-F238E27FC236}">
                <a16:creationId xmlns:a16="http://schemas.microsoft.com/office/drawing/2014/main" id="{0E574512-3A22-4E80-8EB5-2CAD2CA40FD5}"/>
              </a:ext>
            </a:extLst>
          </p:cNvPr>
          <p:cNvSpPr>
            <a:spLocks noGrp="1"/>
          </p:cNvSpPr>
          <p:nvPr/>
        </p:nvSpPr>
        <p:spPr>
          <a:xfrm>
            <a:off x="3657600" y="4762500"/>
            <a:ext cx="1295400" cy="285750"/>
          </a:xfrm>
          <a:prstGeom prst="roundRect">
            <a:avLst>
              <a:gd name="adj" fmla="val 26667"/>
            </a:avLst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13" name="chip2-t">
            <a:extLst>
              <a:ext uri="{FF2B5EF4-FFF2-40B4-BE49-F238E27FC236}">
                <a16:creationId xmlns:a16="http://schemas.microsoft.com/office/drawing/2014/main" id="{29B94B81-0BC1-42C8-A789-331274455187}"/>
              </a:ext>
            </a:extLst>
          </p:cNvPr>
          <p:cNvSpPr>
            <a:spLocks noGrp="1"/>
          </p:cNvSpPr>
          <p:nvPr/>
        </p:nvSpPr>
        <p:spPr>
          <a:xfrm>
            <a:off x="3657600" y="4772025"/>
            <a:ext cx="129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Scikit-Learn</a:t>
            </a:r>
          </a:p>
        </p:txBody>
      </p:sp>
      <p:sp>
        <p:nvSpPr>
          <p:cNvPr id="14" name="chip3">
            <a:extLst>
              <a:ext uri="{FF2B5EF4-FFF2-40B4-BE49-F238E27FC236}">
                <a16:creationId xmlns:a16="http://schemas.microsoft.com/office/drawing/2014/main" id="{B9DEA3CF-CF42-49D9-BCDB-702F7D6E084A}"/>
              </a:ext>
            </a:extLst>
          </p:cNvPr>
          <p:cNvSpPr>
            <a:spLocks noGrp="1"/>
          </p:cNvSpPr>
          <p:nvPr/>
        </p:nvSpPr>
        <p:spPr>
          <a:xfrm>
            <a:off x="5067300" y="4762500"/>
            <a:ext cx="1295400" cy="28575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5" name="chip3-t">
            <a:extLst>
              <a:ext uri="{FF2B5EF4-FFF2-40B4-BE49-F238E27FC236}">
                <a16:creationId xmlns:a16="http://schemas.microsoft.com/office/drawing/2014/main" id="{ED17BFB3-0E63-4A38-88CD-FBFDA46E80E5}"/>
              </a:ext>
            </a:extLst>
          </p:cNvPr>
          <p:cNvSpPr>
            <a:spLocks noGrp="1"/>
          </p:cNvSpPr>
          <p:nvPr/>
        </p:nvSpPr>
        <p:spPr>
          <a:xfrm>
            <a:off x="5067300" y="4772025"/>
            <a:ext cx="129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Streamlit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F2AB189-34E6-4CDC-A317-860BCD6BAC8D}"/>
              </a:ext>
            </a:extLst>
          </p:cNvPr>
          <p:cNvSpPr>
            <a:spLocks noGrp="1"/>
          </p:cNvSpPr>
          <p:nvPr/>
        </p:nvSpPr>
        <p:spPr>
          <a:xfrm>
            <a:off x="7810500" y="1104900"/>
            <a:ext cx="3352800" cy="1162050"/>
          </a:xfrm>
          <a:prstGeom prst="roundRect">
            <a:avLst>
              <a:gd name="adj" fmla="val 6557"/>
            </a:avLst>
          </a:prstGeom>
          <a:solidFill>
            <a:srgbClr val="111827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B82A22-E607-4F64-BBE9-D55BC20B1BEC}"/>
              </a:ext>
            </a:extLst>
          </p:cNvPr>
          <p:cNvSpPr>
            <a:spLocks noGrp="1"/>
          </p:cNvSpPr>
          <p:nvPr/>
        </p:nvSpPr>
        <p:spPr>
          <a:xfrm>
            <a:off x="8077200" y="13144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Semantic Matching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780158-5D51-472F-9498-252EFD4D4A13}"/>
              </a:ext>
            </a:extLst>
          </p:cNvPr>
          <p:cNvSpPr>
            <a:spLocks noGrp="1"/>
          </p:cNvSpPr>
          <p:nvPr/>
        </p:nvSpPr>
        <p:spPr>
          <a:xfrm>
            <a:off x="8077200" y="1657350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Captures meaning beyond keywords.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089045F-29E5-4AEB-B20D-63FDC0C457DA}"/>
              </a:ext>
            </a:extLst>
          </p:cNvPr>
          <p:cNvSpPr>
            <a:spLocks noGrp="1"/>
          </p:cNvSpPr>
          <p:nvPr/>
        </p:nvSpPr>
        <p:spPr>
          <a:xfrm>
            <a:off x="7810500" y="2533650"/>
            <a:ext cx="3352800" cy="1162050"/>
          </a:xfrm>
          <a:prstGeom prst="roundRect">
            <a:avLst>
              <a:gd name="adj" fmla="val 6557"/>
            </a:avLst>
          </a:prstGeom>
          <a:solidFill>
            <a:srgbClr val="111827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505E70-00AC-4585-804A-466945F83A41}"/>
              </a:ext>
            </a:extLst>
          </p:cNvPr>
          <p:cNvSpPr>
            <a:spLocks noGrp="1"/>
          </p:cNvSpPr>
          <p:nvPr/>
        </p:nvSpPr>
        <p:spPr>
          <a:xfrm>
            <a:off x="8077200" y="27432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Ranking Engine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035AF9-5892-4DAC-872C-9BF5E080E5EE}"/>
              </a:ext>
            </a:extLst>
          </p:cNvPr>
          <p:cNvSpPr>
            <a:spLocks noGrp="1"/>
          </p:cNvSpPr>
          <p:nvPr/>
        </p:nvSpPr>
        <p:spPr>
          <a:xfrm>
            <a:off x="8077200" y="3086100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Blends multiple recruiter signals.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652FE04-CC38-4AA8-A1DC-DFEAF3DEBA84}"/>
              </a:ext>
            </a:extLst>
          </p:cNvPr>
          <p:cNvSpPr>
            <a:spLocks noGrp="1"/>
          </p:cNvSpPr>
          <p:nvPr/>
        </p:nvSpPr>
        <p:spPr>
          <a:xfrm>
            <a:off x="7810500" y="3962400"/>
            <a:ext cx="3352800" cy="1162050"/>
          </a:xfrm>
          <a:prstGeom prst="roundRect">
            <a:avLst>
              <a:gd name="adj" fmla="val 6557"/>
            </a:avLst>
          </a:prstGeom>
          <a:solidFill>
            <a:srgbClr val="111827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8D9FC4-6F4B-423A-B76E-3B3480CDDF8A}"/>
              </a:ext>
            </a:extLst>
          </p:cNvPr>
          <p:cNvSpPr>
            <a:spLocks noGrp="1"/>
          </p:cNvSpPr>
          <p:nvPr/>
        </p:nvSpPr>
        <p:spPr>
          <a:xfrm>
            <a:off x="8077200" y="41719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Explainable AI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638810-3447-4B89-8238-4867387C344F}"/>
              </a:ext>
            </a:extLst>
          </p:cNvPr>
          <p:cNvSpPr>
            <a:spLocks noGrp="1"/>
          </p:cNvSpPr>
          <p:nvPr/>
        </p:nvSpPr>
        <p:spPr>
          <a:xfrm>
            <a:off x="8077200" y="4514850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Shows why each candidate moved up or down.</a:t>
            </a:r>
          </a:p>
        </p:txBody>
      </p:sp>
    </p:spTree>
    <p:extLst>
      <p:ext uri="{BB962C8B-B14F-4D97-AF65-F5344CB8AC3E}">
        <p14:creationId xmlns:p14="http://schemas.microsoft.com/office/powerpoint/2010/main" val="210037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0B77E58-AB32-4A0B-8857-94626C678A49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1714500" cy="57150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2" name="h2">
            <a:extLst>
              <a:ext uri="{FF2B5EF4-FFF2-40B4-BE49-F238E27FC236}">
                <a16:creationId xmlns:a16="http://schemas.microsoft.com/office/drawing/2014/main" id="{0C8117AA-DCFC-4C23-87D1-69119389FFB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286000" cy="285750"/>
          </a:xfrm>
          <a:prstGeom prst="roundRect">
            <a:avLst>
              <a:gd name="adj" fmla="val 26667"/>
            </a:avLst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3" name="h2-t">
            <a:extLst>
              <a:ext uri="{FF2B5EF4-FFF2-40B4-BE49-F238E27FC236}">
                <a16:creationId xmlns:a16="http://schemas.microsoft.com/office/drawing/2014/main" id="{36457610-6774-40E6-9B55-67A804635046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 | Problem</a:t>
            </a:r>
          </a:p>
        </p:txBody>
      </p:sp>
      <p:sp>
        <p:nvSpPr>
          <p:cNvPr id="4" name="t2">
            <a:extLst>
              <a:ext uri="{FF2B5EF4-FFF2-40B4-BE49-F238E27FC236}">
                <a16:creationId xmlns:a16="http://schemas.microsoft.com/office/drawing/2014/main" id="{5C38DD86-5189-487A-A846-55BB952D350F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5" name="s2">
            <a:extLst>
              <a:ext uri="{FF2B5EF4-FFF2-40B4-BE49-F238E27FC236}">
                <a16:creationId xmlns:a16="http://schemas.microsoft.com/office/drawing/2014/main" id="{9A841634-DF48-4777-BC47-F63C90B00321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Recruiters need to screen large candidate pools quickly, fairly, and with enough context to trust the shortlist.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187103-EC7D-4915-917D-5BFD92907FC2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Recruitment System | Data &amp; AI Hackathon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2668CD-7EC5-4789-B761-359FEABB1FAB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p1-bg">
            <a:extLst>
              <a:ext uri="{FF2B5EF4-FFF2-40B4-BE49-F238E27FC236}">
                <a16:creationId xmlns:a16="http://schemas.microsoft.com/office/drawing/2014/main" id="{014469A5-F2DE-43F0-9CDB-1CE2CA74AF3F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51435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p1-a">
            <a:extLst>
              <a:ext uri="{FF2B5EF4-FFF2-40B4-BE49-F238E27FC236}">
                <a16:creationId xmlns:a16="http://schemas.microsoft.com/office/drawing/2014/main" id="{A3D6D754-492A-4B80-A537-A5CCF93E731F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76200" cy="28575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10" name="p1-title">
            <a:extLst>
              <a:ext uri="{FF2B5EF4-FFF2-40B4-BE49-F238E27FC236}">
                <a16:creationId xmlns:a16="http://schemas.microsoft.com/office/drawing/2014/main" id="{09F4EA65-A48D-4609-974D-4EB2EFCC6E5B}"/>
              </a:ext>
            </a:extLst>
          </p:cNvPr>
          <p:cNvSpPr>
            <a:spLocks noGrp="1"/>
          </p:cNvSpPr>
          <p:nvPr/>
        </p:nvSpPr>
        <p:spPr>
          <a:xfrm>
            <a:off x="895350" y="2209800"/>
            <a:ext cx="472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What makes screening hard?</a:t>
            </a:r>
          </a:p>
        </p:txBody>
      </p:sp>
      <p:sp>
        <p:nvSpPr>
          <p:cNvPr id="11" name="p1-body">
            <a:extLst>
              <a:ext uri="{FF2B5EF4-FFF2-40B4-BE49-F238E27FC236}">
                <a16:creationId xmlns:a16="http://schemas.microsoft.com/office/drawing/2014/main" id="{B7B2F110-8675-4B6F-AF34-030AADFE9798}"/>
              </a:ext>
            </a:extLst>
          </p:cNvPr>
          <p:cNvSpPr>
            <a:spLocks noGrp="1"/>
          </p:cNvSpPr>
          <p:nvPr/>
        </p:nvSpPr>
        <p:spPr>
          <a:xfrm>
            <a:off x="895350" y="2552700"/>
            <a:ext cx="47244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Resumes arrive in large volumes and have to be evaluated under time pressure.</a:t>
            </a:r>
          </a:p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Keyword matching misses transferable skills and contextual relevance.</a:t>
            </a:r>
          </a:p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Hiring teams need not only a rank order, but also a clear reason behind each recommendation.</a:t>
            </a:r>
          </a:p>
        </p:txBody>
      </p:sp>
      <p:sp>
        <p:nvSpPr>
          <p:cNvPr id="12" name="p2-bg">
            <a:extLst>
              <a:ext uri="{FF2B5EF4-FFF2-40B4-BE49-F238E27FC236}">
                <a16:creationId xmlns:a16="http://schemas.microsoft.com/office/drawing/2014/main" id="{11A5222B-51F8-48E4-9AA9-9EA6A7A876A6}"/>
              </a:ext>
            </a:extLst>
          </p:cNvPr>
          <p:cNvSpPr>
            <a:spLocks noGrp="1"/>
          </p:cNvSpPr>
          <p:nvPr/>
        </p:nvSpPr>
        <p:spPr>
          <a:xfrm>
            <a:off x="6210300" y="2038350"/>
            <a:ext cx="52959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p2-a">
            <a:extLst>
              <a:ext uri="{FF2B5EF4-FFF2-40B4-BE49-F238E27FC236}">
                <a16:creationId xmlns:a16="http://schemas.microsoft.com/office/drawing/2014/main" id="{37606408-2C03-40FF-B38A-7869C015695F}"/>
              </a:ext>
            </a:extLst>
          </p:cNvPr>
          <p:cNvSpPr>
            <a:spLocks noGrp="1"/>
          </p:cNvSpPr>
          <p:nvPr/>
        </p:nvSpPr>
        <p:spPr>
          <a:xfrm>
            <a:off x="6210300" y="2038350"/>
            <a:ext cx="76200" cy="2857500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14" name="p2-title">
            <a:extLst>
              <a:ext uri="{FF2B5EF4-FFF2-40B4-BE49-F238E27FC236}">
                <a16:creationId xmlns:a16="http://schemas.microsoft.com/office/drawing/2014/main" id="{6838A6B5-5AFB-46AC-A478-90B9B373D02A}"/>
              </a:ext>
            </a:extLst>
          </p:cNvPr>
          <p:cNvSpPr>
            <a:spLocks noGrp="1"/>
          </p:cNvSpPr>
          <p:nvPr/>
        </p:nvSpPr>
        <p:spPr>
          <a:xfrm>
            <a:off x="6419850" y="2209800"/>
            <a:ext cx="4876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What the system must deliver</a:t>
            </a:r>
          </a:p>
        </p:txBody>
      </p:sp>
      <p:sp>
        <p:nvSpPr>
          <p:cNvPr id="15" name="p2-body">
            <a:extLst>
              <a:ext uri="{FF2B5EF4-FFF2-40B4-BE49-F238E27FC236}">
                <a16:creationId xmlns:a16="http://schemas.microsoft.com/office/drawing/2014/main" id="{8E8A7128-B1EC-4DA9-9D8B-593526EADCB8}"/>
              </a:ext>
            </a:extLst>
          </p:cNvPr>
          <p:cNvSpPr>
            <a:spLocks noGrp="1"/>
          </p:cNvSpPr>
          <p:nvPr/>
        </p:nvSpPr>
        <p:spPr>
          <a:xfrm>
            <a:off x="6419850" y="2552700"/>
            <a:ext cx="48768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Meaning-aware matching between the job description and candidate profiles.</a:t>
            </a:r>
          </a:p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 multi-signal ranking engine that combines text, history, behavior, and role fit.</a:t>
            </a:r>
          </a:p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An explainable output that recruiters can review and act on immediately.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8EA769-0C9E-4F3C-8F41-DA0BE67EB985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Goal: replace manual triage with a system that surfaces the strongest candidates faster, while preserving recruiter trust in every score.</a:t>
            </a:r>
          </a:p>
        </p:txBody>
      </p:sp>
    </p:spTree>
    <p:extLst>
      <p:ext uri="{BB962C8B-B14F-4D97-AF65-F5344CB8AC3E}">
        <p14:creationId xmlns:p14="http://schemas.microsoft.com/office/powerpoint/2010/main" val="1552575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C0B2C39-7C0E-4439-B858-1BF3ED7075E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1714500" cy="57150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2" name="h3">
            <a:extLst>
              <a:ext uri="{FF2B5EF4-FFF2-40B4-BE49-F238E27FC236}">
                <a16:creationId xmlns:a16="http://schemas.microsoft.com/office/drawing/2014/main" id="{133ADEE3-3197-4BAC-B1F1-5C3E3513316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286000" cy="285750"/>
          </a:xfrm>
          <a:prstGeom prst="roundRect">
            <a:avLst>
              <a:gd name="adj" fmla="val 26667"/>
            </a:avLst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3" name="h3-t">
            <a:extLst>
              <a:ext uri="{FF2B5EF4-FFF2-40B4-BE49-F238E27FC236}">
                <a16:creationId xmlns:a16="http://schemas.microsoft.com/office/drawing/2014/main" id="{264D6E9E-7445-49DE-BF6C-480AC3321D7B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 | Limitations</a:t>
            </a:r>
          </a:p>
        </p:txBody>
      </p:sp>
      <p:sp>
        <p:nvSpPr>
          <p:cNvPr id="4" name="t3">
            <a:extLst>
              <a:ext uri="{FF2B5EF4-FFF2-40B4-BE49-F238E27FC236}">
                <a16:creationId xmlns:a16="http://schemas.microsoft.com/office/drawing/2014/main" id="{BA40083E-E203-4EA2-9DAF-D259F4A44940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Existing System Limitations</a:t>
            </a:r>
          </a:p>
        </p:txBody>
      </p:sp>
      <p:sp>
        <p:nvSpPr>
          <p:cNvPr id="5" name="s3">
            <a:extLst>
              <a:ext uri="{FF2B5EF4-FFF2-40B4-BE49-F238E27FC236}">
                <a16:creationId xmlns:a16="http://schemas.microsoft.com/office/drawing/2014/main" id="{F38DA075-3FB7-4B89-869F-BD0D1FF2D86C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Traditional resume screening often optimizes for speed or recall, but rarely balances relevance, transparency, and scale.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6E9B1C-D95C-404B-BDB0-A8F47124DB6F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Recruitment System | Data &amp; AI Hackathon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98135E-A7DC-4FD0-8AC1-846BD8D2AFC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l1-bg">
            <a:extLst>
              <a:ext uri="{FF2B5EF4-FFF2-40B4-BE49-F238E27FC236}">
                <a16:creationId xmlns:a16="http://schemas.microsoft.com/office/drawing/2014/main" id="{405CBD2B-2C9E-454C-BF49-03657E29EFD1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3352800" cy="3028950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l1-a">
            <a:extLst>
              <a:ext uri="{FF2B5EF4-FFF2-40B4-BE49-F238E27FC236}">
                <a16:creationId xmlns:a16="http://schemas.microsoft.com/office/drawing/2014/main" id="{CB2CE913-F9F4-4BC9-9B08-9566138F15CC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76200" cy="3028950"/>
          </a:xfrm>
          <a:prstGeom prst="rect">
            <a:avLst/>
          </a:prstGeom>
          <a:solidFill>
            <a:srgbClr val="E11D48"/>
          </a:solidFill>
          <a:ln w="0">
            <a:solidFill>
              <a:srgbClr val="E11D48"/>
            </a:solidFill>
            <a:prstDash val="solid"/>
          </a:ln>
        </p:spPr>
      </p:sp>
      <p:sp>
        <p:nvSpPr>
          <p:cNvPr id="10" name="l1-title">
            <a:extLst>
              <a:ext uri="{FF2B5EF4-FFF2-40B4-BE49-F238E27FC236}">
                <a16:creationId xmlns:a16="http://schemas.microsoft.com/office/drawing/2014/main" id="{5365A9DB-8349-4C72-84D7-F7C879C35F34}"/>
              </a:ext>
            </a:extLst>
          </p:cNvPr>
          <p:cNvSpPr>
            <a:spLocks noGrp="1"/>
          </p:cNvSpPr>
          <p:nvPr/>
        </p:nvSpPr>
        <p:spPr>
          <a:xfrm>
            <a:off x="895350" y="217170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Rule-based filtering</a:t>
            </a:r>
          </a:p>
        </p:txBody>
      </p:sp>
      <p:sp>
        <p:nvSpPr>
          <p:cNvPr id="11" name="l1-body">
            <a:extLst>
              <a:ext uri="{FF2B5EF4-FFF2-40B4-BE49-F238E27FC236}">
                <a16:creationId xmlns:a16="http://schemas.microsoft.com/office/drawing/2014/main" id="{30C488C9-7F0B-48AD-95FC-C783062A985E}"/>
              </a:ext>
            </a:extLst>
          </p:cNvPr>
          <p:cNvSpPr>
            <a:spLocks noGrp="1"/>
          </p:cNvSpPr>
          <p:nvPr/>
        </p:nvSpPr>
        <p:spPr>
          <a:xfrm>
            <a:off x="895350" y="2514600"/>
            <a:ext cx="29337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Hard-coded keyword logic is brittle and easy to game.</a:t>
            </a:r>
          </a:p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It misses synonyms, adjacent domains, and transferable experience.</a:t>
            </a:r>
          </a:p>
        </p:txBody>
      </p:sp>
      <p:sp>
        <p:nvSpPr>
          <p:cNvPr id="12" name="l2-bg">
            <a:extLst>
              <a:ext uri="{FF2B5EF4-FFF2-40B4-BE49-F238E27FC236}">
                <a16:creationId xmlns:a16="http://schemas.microsoft.com/office/drawing/2014/main" id="{00E628D3-1479-49DE-8151-816BE9C719C3}"/>
              </a:ext>
            </a:extLst>
          </p:cNvPr>
          <p:cNvSpPr>
            <a:spLocks noGrp="1"/>
          </p:cNvSpPr>
          <p:nvPr/>
        </p:nvSpPr>
        <p:spPr>
          <a:xfrm>
            <a:off x="4419600" y="2000250"/>
            <a:ext cx="3352800" cy="3028950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l2-a">
            <a:extLst>
              <a:ext uri="{FF2B5EF4-FFF2-40B4-BE49-F238E27FC236}">
                <a16:creationId xmlns:a16="http://schemas.microsoft.com/office/drawing/2014/main" id="{6F852F04-37B1-433C-9689-E1C8375CEE5C}"/>
              </a:ext>
            </a:extLst>
          </p:cNvPr>
          <p:cNvSpPr>
            <a:spLocks noGrp="1"/>
          </p:cNvSpPr>
          <p:nvPr/>
        </p:nvSpPr>
        <p:spPr>
          <a:xfrm>
            <a:off x="4419600" y="2000250"/>
            <a:ext cx="76200" cy="302895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14" name="l2-title">
            <a:extLst>
              <a:ext uri="{FF2B5EF4-FFF2-40B4-BE49-F238E27FC236}">
                <a16:creationId xmlns:a16="http://schemas.microsoft.com/office/drawing/2014/main" id="{F3FB159C-7159-4D9A-9ACA-642E0F0865C6}"/>
              </a:ext>
            </a:extLst>
          </p:cNvPr>
          <p:cNvSpPr>
            <a:spLocks noGrp="1"/>
          </p:cNvSpPr>
          <p:nvPr/>
        </p:nvSpPr>
        <p:spPr>
          <a:xfrm>
            <a:off x="4629150" y="217170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Opaque scoring</a:t>
            </a:r>
          </a:p>
        </p:txBody>
      </p:sp>
      <p:sp>
        <p:nvSpPr>
          <p:cNvPr id="15" name="l2-body">
            <a:extLst>
              <a:ext uri="{FF2B5EF4-FFF2-40B4-BE49-F238E27FC236}">
                <a16:creationId xmlns:a16="http://schemas.microsoft.com/office/drawing/2014/main" id="{AA9DD322-F58C-4278-8799-B3CB66244633}"/>
              </a:ext>
            </a:extLst>
          </p:cNvPr>
          <p:cNvSpPr>
            <a:spLocks noGrp="1"/>
          </p:cNvSpPr>
          <p:nvPr/>
        </p:nvSpPr>
        <p:spPr>
          <a:xfrm>
            <a:off x="4629150" y="2514600"/>
            <a:ext cx="29337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 single score hides which signal actually mattered.</a:t>
            </a:r>
          </a:p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Recruiters cannot easily challenge or audit the result.</a:t>
            </a:r>
          </a:p>
        </p:txBody>
      </p:sp>
      <p:sp>
        <p:nvSpPr>
          <p:cNvPr id="16" name="l3-bg">
            <a:extLst>
              <a:ext uri="{FF2B5EF4-FFF2-40B4-BE49-F238E27FC236}">
                <a16:creationId xmlns:a16="http://schemas.microsoft.com/office/drawing/2014/main" id="{0152063B-8E56-42C1-9F65-867F34805077}"/>
              </a:ext>
            </a:extLst>
          </p:cNvPr>
          <p:cNvSpPr>
            <a:spLocks noGrp="1"/>
          </p:cNvSpPr>
          <p:nvPr/>
        </p:nvSpPr>
        <p:spPr>
          <a:xfrm>
            <a:off x="8153400" y="2000250"/>
            <a:ext cx="3352800" cy="3028950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l3-a">
            <a:extLst>
              <a:ext uri="{FF2B5EF4-FFF2-40B4-BE49-F238E27FC236}">
                <a16:creationId xmlns:a16="http://schemas.microsoft.com/office/drawing/2014/main" id="{1860B796-FB43-4643-80A8-71B316989858}"/>
              </a:ext>
            </a:extLst>
          </p:cNvPr>
          <p:cNvSpPr>
            <a:spLocks noGrp="1"/>
          </p:cNvSpPr>
          <p:nvPr/>
        </p:nvSpPr>
        <p:spPr>
          <a:xfrm>
            <a:off x="8153400" y="2000250"/>
            <a:ext cx="76200" cy="30289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8" name="l3-title">
            <a:extLst>
              <a:ext uri="{FF2B5EF4-FFF2-40B4-BE49-F238E27FC236}">
                <a16:creationId xmlns:a16="http://schemas.microsoft.com/office/drawing/2014/main" id="{6301AE59-1F5B-4AF0-B78A-370684F9272D}"/>
              </a:ext>
            </a:extLst>
          </p:cNvPr>
          <p:cNvSpPr>
            <a:spLocks noGrp="1"/>
          </p:cNvSpPr>
          <p:nvPr/>
        </p:nvSpPr>
        <p:spPr>
          <a:xfrm>
            <a:off x="8362950" y="217170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Manual review bottleneck</a:t>
            </a:r>
          </a:p>
        </p:txBody>
      </p:sp>
      <p:sp>
        <p:nvSpPr>
          <p:cNvPr id="19" name="l3-body">
            <a:extLst>
              <a:ext uri="{FF2B5EF4-FFF2-40B4-BE49-F238E27FC236}">
                <a16:creationId xmlns:a16="http://schemas.microsoft.com/office/drawing/2014/main" id="{B4FCAE19-8499-4E9D-95B4-B894F7086CD6}"/>
              </a:ext>
            </a:extLst>
          </p:cNvPr>
          <p:cNvSpPr>
            <a:spLocks noGrp="1"/>
          </p:cNvSpPr>
          <p:nvPr/>
        </p:nvSpPr>
        <p:spPr>
          <a:xfrm>
            <a:off x="8362950" y="2514600"/>
            <a:ext cx="29337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Human-only review does not scale across hundreds or thousands of profiles.</a:t>
            </a:r>
          </a:p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Consistency drops when reviewers are comparing candidates in parallel.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045DF5-AFFB-4D89-9611-AED44289B606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Takeaway: the legacy approach is either fast but shallow, or careful but slow. The hackathon system is designed to do both.</a:t>
            </a:r>
          </a:p>
        </p:txBody>
      </p:sp>
    </p:spTree>
    <p:extLst>
      <p:ext uri="{BB962C8B-B14F-4D97-AF65-F5344CB8AC3E}">
        <p14:creationId xmlns:p14="http://schemas.microsoft.com/office/powerpoint/2010/main" val="116310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F51377A1-468A-4D2C-B6E2-C989FA491F49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1714500" cy="57150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2" name="h4">
            <a:extLst>
              <a:ext uri="{FF2B5EF4-FFF2-40B4-BE49-F238E27FC236}">
                <a16:creationId xmlns:a16="http://schemas.microsoft.com/office/drawing/2014/main" id="{69E6B01F-64E2-4391-B2D7-3EDB2B977AC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286000" cy="285750"/>
          </a:xfrm>
          <a:prstGeom prst="roundRect">
            <a:avLst>
              <a:gd name="adj" fmla="val 26667"/>
            </a:avLst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3" name="h4-t">
            <a:extLst>
              <a:ext uri="{FF2B5EF4-FFF2-40B4-BE49-F238E27FC236}">
                <a16:creationId xmlns:a16="http://schemas.microsoft.com/office/drawing/2014/main" id="{593D8443-34A5-4A26-A4AD-00015302CF91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 | Solution</a:t>
            </a:r>
          </a:p>
        </p:txBody>
      </p:sp>
      <p:sp>
        <p:nvSpPr>
          <p:cNvPr id="4" name="t4">
            <a:extLst>
              <a:ext uri="{FF2B5EF4-FFF2-40B4-BE49-F238E27FC236}">
                <a16:creationId xmlns:a16="http://schemas.microsoft.com/office/drawing/2014/main" id="{BDE44725-F7E9-46FC-8197-DCA09571CA3C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Proposed Solution</a:t>
            </a:r>
          </a:p>
        </p:txBody>
      </p:sp>
      <p:sp>
        <p:nvSpPr>
          <p:cNvPr id="5" name="s4">
            <a:extLst>
              <a:ext uri="{FF2B5EF4-FFF2-40B4-BE49-F238E27FC236}">
                <a16:creationId xmlns:a16="http://schemas.microsoft.com/office/drawing/2014/main" id="{11ADE62D-A221-477E-9F7A-9E153AABDB74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 modular AI pipeline transforms candidate data into a ranked, explainable shortlist.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C43EE4-73BD-4B6F-BF67-CA15B484FE89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Recruitment System | Data &amp; AI Hackathon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515590-D175-498D-9427-A149DA559CCD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88963D-3E5A-4E12-91D9-E8C180F3B332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2576513" cy="2667000"/>
          </a:xfrm>
          <a:prstGeom prst="roundRect">
            <a:avLst>
              <a:gd name="adj" fmla="val 2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f0">
            <a:extLst>
              <a:ext uri="{FF2B5EF4-FFF2-40B4-BE49-F238E27FC236}">
                <a16:creationId xmlns:a16="http://schemas.microsoft.com/office/drawing/2014/main" id="{4D9652A9-B9AE-4770-AB54-4488733AC63A}"/>
              </a:ext>
            </a:extLst>
          </p:cNvPr>
          <p:cNvSpPr>
            <a:spLocks noGrp="1"/>
          </p:cNvSpPr>
          <p:nvPr/>
        </p:nvSpPr>
        <p:spPr>
          <a:xfrm>
            <a:off x="876300" y="2228850"/>
            <a:ext cx="533400" cy="26670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0" name="f0-t">
            <a:extLst>
              <a:ext uri="{FF2B5EF4-FFF2-40B4-BE49-F238E27FC236}">
                <a16:creationId xmlns:a16="http://schemas.microsoft.com/office/drawing/2014/main" id="{326F3BB3-CFEF-47FB-A6A1-11996C1581FD}"/>
              </a:ext>
            </a:extLst>
          </p:cNvPr>
          <p:cNvSpPr>
            <a:spLocks noGrp="1"/>
          </p:cNvSpPr>
          <p:nvPr/>
        </p:nvSpPr>
        <p:spPr>
          <a:xfrm>
            <a:off x="876300" y="2238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656C19-9AB9-47FE-8FC8-5FAAB79DFB8A}"/>
              </a:ext>
            </a:extLst>
          </p:cNvPr>
          <p:cNvSpPr>
            <a:spLocks noGrp="1"/>
          </p:cNvSpPr>
          <p:nvPr/>
        </p:nvSpPr>
        <p:spPr>
          <a:xfrm>
            <a:off x="876300" y="2628900"/>
            <a:ext cx="2195513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Ingest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C32BDD-408E-426F-B56C-5F565FA53999}"/>
              </a:ext>
            </a:extLst>
          </p:cNvPr>
          <p:cNvSpPr>
            <a:spLocks noGrp="1"/>
          </p:cNvSpPr>
          <p:nvPr/>
        </p:nvSpPr>
        <p:spPr>
          <a:xfrm>
            <a:off x="876300" y="3028950"/>
            <a:ext cx="2195513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Load candidates.jsonl and job_description.docx as structured inputs.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64D29AF-E669-47BA-A2F6-4FCDB9D8C190}"/>
              </a:ext>
            </a:extLst>
          </p:cNvPr>
          <p:cNvSpPr>
            <a:spLocks noGrp="1"/>
          </p:cNvSpPr>
          <p:nvPr/>
        </p:nvSpPr>
        <p:spPr>
          <a:xfrm>
            <a:off x="3433763" y="2038350"/>
            <a:ext cx="2576513" cy="2667000"/>
          </a:xfrm>
          <a:prstGeom prst="roundRect">
            <a:avLst>
              <a:gd name="adj" fmla="val 2957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4" name="f1">
            <a:extLst>
              <a:ext uri="{FF2B5EF4-FFF2-40B4-BE49-F238E27FC236}">
                <a16:creationId xmlns:a16="http://schemas.microsoft.com/office/drawing/2014/main" id="{A6BAE768-1695-444D-8463-DB5E1E3D9D48}"/>
              </a:ext>
            </a:extLst>
          </p:cNvPr>
          <p:cNvSpPr>
            <a:spLocks noGrp="1"/>
          </p:cNvSpPr>
          <p:nvPr/>
        </p:nvSpPr>
        <p:spPr>
          <a:xfrm>
            <a:off x="3624263" y="2228850"/>
            <a:ext cx="533400" cy="266700"/>
          </a:xfrm>
          <a:prstGeom prst="roundRect">
            <a:avLst>
              <a:gd name="adj" fmla="val 28571"/>
            </a:avLst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15" name="f1-t">
            <a:extLst>
              <a:ext uri="{FF2B5EF4-FFF2-40B4-BE49-F238E27FC236}">
                <a16:creationId xmlns:a16="http://schemas.microsoft.com/office/drawing/2014/main" id="{E8C2235B-19BC-4DFA-8222-80A83434F855}"/>
              </a:ext>
            </a:extLst>
          </p:cNvPr>
          <p:cNvSpPr>
            <a:spLocks noGrp="1"/>
          </p:cNvSpPr>
          <p:nvPr/>
        </p:nvSpPr>
        <p:spPr>
          <a:xfrm>
            <a:off x="3624263" y="2238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262182-6CBD-4677-A3B4-0DB37198422D}"/>
              </a:ext>
            </a:extLst>
          </p:cNvPr>
          <p:cNvSpPr>
            <a:spLocks noGrp="1"/>
          </p:cNvSpPr>
          <p:nvPr/>
        </p:nvSpPr>
        <p:spPr>
          <a:xfrm>
            <a:off x="3624263" y="2628900"/>
            <a:ext cx="2195513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Match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A577A9-AF76-45A0-8FD9-8CEF090F0A02}"/>
              </a:ext>
            </a:extLst>
          </p:cNvPr>
          <p:cNvSpPr>
            <a:spLocks noGrp="1"/>
          </p:cNvSpPr>
          <p:nvPr/>
        </p:nvSpPr>
        <p:spPr>
          <a:xfrm>
            <a:off x="3624263" y="3028950"/>
            <a:ext cx="2195513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 semantic matching and skill overlap to capture relevance.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610B902-38A0-4153-8CDE-729A08D4027E}"/>
              </a:ext>
            </a:extLst>
          </p:cNvPr>
          <p:cNvSpPr>
            <a:spLocks noGrp="1"/>
          </p:cNvSpPr>
          <p:nvPr/>
        </p:nvSpPr>
        <p:spPr>
          <a:xfrm>
            <a:off x="6181725" y="2038350"/>
            <a:ext cx="2576513" cy="2667000"/>
          </a:xfrm>
          <a:prstGeom prst="roundRect">
            <a:avLst>
              <a:gd name="adj" fmla="val 2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f2">
            <a:extLst>
              <a:ext uri="{FF2B5EF4-FFF2-40B4-BE49-F238E27FC236}">
                <a16:creationId xmlns:a16="http://schemas.microsoft.com/office/drawing/2014/main" id="{428C9EE3-8438-4D0E-ACAF-38F3DD73928C}"/>
              </a:ext>
            </a:extLst>
          </p:cNvPr>
          <p:cNvSpPr>
            <a:spLocks noGrp="1"/>
          </p:cNvSpPr>
          <p:nvPr/>
        </p:nvSpPr>
        <p:spPr>
          <a:xfrm>
            <a:off x="6372225" y="2228850"/>
            <a:ext cx="533400" cy="26670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0" name="f2-t">
            <a:extLst>
              <a:ext uri="{FF2B5EF4-FFF2-40B4-BE49-F238E27FC236}">
                <a16:creationId xmlns:a16="http://schemas.microsoft.com/office/drawing/2014/main" id="{61002660-ABF0-4C61-8E35-E408A3FB5245}"/>
              </a:ext>
            </a:extLst>
          </p:cNvPr>
          <p:cNvSpPr>
            <a:spLocks noGrp="1"/>
          </p:cNvSpPr>
          <p:nvPr/>
        </p:nvSpPr>
        <p:spPr>
          <a:xfrm>
            <a:off x="6372225" y="2238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D39929-8732-4A7F-B523-53AFBF481721}"/>
              </a:ext>
            </a:extLst>
          </p:cNvPr>
          <p:cNvSpPr>
            <a:spLocks noGrp="1"/>
          </p:cNvSpPr>
          <p:nvPr/>
        </p:nvSpPr>
        <p:spPr>
          <a:xfrm>
            <a:off x="6372225" y="2628900"/>
            <a:ext cx="2195513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B5B490-054C-4D3F-A456-2CCCA80D73F8}"/>
              </a:ext>
            </a:extLst>
          </p:cNvPr>
          <p:cNvSpPr>
            <a:spLocks noGrp="1"/>
          </p:cNvSpPr>
          <p:nvPr/>
        </p:nvSpPr>
        <p:spPr>
          <a:xfrm>
            <a:off x="6372225" y="3028950"/>
            <a:ext cx="2195513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Compute experience, behavioral, product fit, and title relevance.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11CE433-5AF8-4389-9271-32BF7945957E}"/>
              </a:ext>
            </a:extLst>
          </p:cNvPr>
          <p:cNvSpPr>
            <a:spLocks noGrp="1"/>
          </p:cNvSpPr>
          <p:nvPr/>
        </p:nvSpPr>
        <p:spPr>
          <a:xfrm>
            <a:off x="8929688" y="2038350"/>
            <a:ext cx="2576513" cy="2667000"/>
          </a:xfrm>
          <a:prstGeom prst="roundRect">
            <a:avLst>
              <a:gd name="adj" fmla="val 2957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4" name="f3">
            <a:extLst>
              <a:ext uri="{FF2B5EF4-FFF2-40B4-BE49-F238E27FC236}">
                <a16:creationId xmlns:a16="http://schemas.microsoft.com/office/drawing/2014/main" id="{4C76D233-5E8E-4AB5-A1B6-8AE7E587F7B3}"/>
              </a:ext>
            </a:extLst>
          </p:cNvPr>
          <p:cNvSpPr>
            <a:spLocks noGrp="1"/>
          </p:cNvSpPr>
          <p:nvPr/>
        </p:nvSpPr>
        <p:spPr>
          <a:xfrm>
            <a:off x="9120188" y="2228850"/>
            <a:ext cx="533400" cy="266700"/>
          </a:xfrm>
          <a:prstGeom prst="roundRect">
            <a:avLst>
              <a:gd name="adj" fmla="val 28571"/>
            </a:avLst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25" name="f3-t">
            <a:extLst>
              <a:ext uri="{FF2B5EF4-FFF2-40B4-BE49-F238E27FC236}">
                <a16:creationId xmlns:a16="http://schemas.microsoft.com/office/drawing/2014/main" id="{0B5342D6-EAF0-476C-A709-FBC7890583EE}"/>
              </a:ext>
            </a:extLst>
          </p:cNvPr>
          <p:cNvSpPr>
            <a:spLocks noGrp="1"/>
          </p:cNvSpPr>
          <p:nvPr/>
        </p:nvSpPr>
        <p:spPr>
          <a:xfrm>
            <a:off x="9120188" y="22383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46CEED-F2D3-44FE-9F34-1B256A67FC64}"/>
              </a:ext>
            </a:extLst>
          </p:cNvPr>
          <p:cNvSpPr>
            <a:spLocks noGrp="1"/>
          </p:cNvSpPr>
          <p:nvPr/>
        </p:nvSpPr>
        <p:spPr>
          <a:xfrm>
            <a:off x="9120188" y="2628900"/>
            <a:ext cx="2195513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Rank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527CD8-D62D-4597-8EE8-CDBEA483BE95}"/>
              </a:ext>
            </a:extLst>
          </p:cNvPr>
          <p:cNvSpPr>
            <a:spLocks noGrp="1"/>
          </p:cNvSpPr>
          <p:nvPr/>
        </p:nvSpPr>
        <p:spPr>
          <a:xfrm>
            <a:off x="9120188" y="3028950"/>
            <a:ext cx="2195513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Blend all signals, generate explanations, and export submission.csv.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FB332C-F8FE-4344-BFCF-C067A8BEC2E5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architecture is intentionally modular, so each score can be tested, tuned, and explained independently without rebuilding the full system.</a:t>
            </a:r>
          </a:p>
        </p:txBody>
      </p:sp>
    </p:spTree>
    <p:extLst>
      <p:ext uri="{BB962C8B-B14F-4D97-AF65-F5344CB8AC3E}">
        <p14:creationId xmlns:p14="http://schemas.microsoft.com/office/powerpoint/2010/main" val="907499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DBA1040-CB58-4D7E-AD07-216A1EC2EE0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1714500" cy="57150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2" name="h5">
            <a:extLst>
              <a:ext uri="{FF2B5EF4-FFF2-40B4-BE49-F238E27FC236}">
                <a16:creationId xmlns:a16="http://schemas.microsoft.com/office/drawing/2014/main" id="{C27B9E77-AE0A-41EC-90E9-B137378DE26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286000" cy="285750"/>
          </a:xfrm>
          <a:prstGeom prst="roundRect">
            <a:avLst>
              <a:gd name="adj" fmla="val 26667"/>
            </a:avLst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3" name="h5-t">
            <a:extLst>
              <a:ext uri="{FF2B5EF4-FFF2-40B4-BE49-F238E27FC236}">
                <a16:creationId xmlns:a16="http://schemas.microsoft.com/office/drawing/2014/main" id="{F5734F57-0E58-4452-9E35-699040F514F5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 | Architecture</a:t>
            </a:r>
          </a:p>
        </p:txBody>
      </p:sp>
      <p:sp>
        <p:nvSpPr>
          <p:cNvPr id="4" name="t5">
            <a:extLst>
              <a:ext uri="{FF2B5EF4-FFF2-40B4-BE49-F238E27FC236}">
                <a16:creationId xmlns:a16="http://schemas.microsoft.com/office/drawing/2014/main" id="{7BD1BB7A-B702-48E4-AD18-0C0E47E6B226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5" name="s5">
            <a:extLst>
              <a:ext uri="{FF2B5EF4-FFF2-40B4-BE49-F238E27FC236}">
                <a16:creationId xmlns:a16="http://schemas.microsoft.com/office/drawing/2014/main" id="{D97D2BA4-8E24-445F-B277-0F3CC04CA9E0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system is organized into clear layers from ingestion to ranking, explanation, and output.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462631-7A41-40A3-AE80-E227C9C4DCE5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Recruitment System | Data &amp; AI Hackathon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962F47-A75D-4032-992D-38F0B03FBD9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a1-bg">
            <a:extLst>
              <a:ext uri="{FF2B5EF4-FFF2-40B4-BE49-F238E27FC236}">
                <a16:creationId xmlns:a16="http://schemas.microsoft.com/office/drawing/2014/main" id="{EB0116F9-4976-4637-9677-4507A25CA0E7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3638550" cy="3257550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a1-a">
            <a:extLst>
              <a:ext uri="{FF2B5EF4-FFF2-40B4-BE49-F238E27FC236}">
                <a16:creationId xmlns:a16="http://schemas.microsoft.com/office/drawing/2014/main" id="{39608082-6CF1-42A0-B937-16F74D3835F4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76200" cy="3257550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10" name="a1-title">
            <a:extLst>
              <a:ext uri="{FF2B5EF4-FFF2-40B4-BE49-F238E27FC236}">
                <a16:creationId xmlns:a16="http://schemas.microsoft.com/office/drawing/2014/main" id="{7DD1BA6B-7D67-4D22-9C6F-E24E56BDDBD9}"/>
              </a:ext>
            </a:extLst>
          </p:cNvPr>
          <p:cNvSpPr>
            <a:spLocks noGrp="1"/>
          </p:cNvSpPr>
          <p:nvPr/>
        </p:nvSpPr>
        <p:spPr>
          <a:xfrm>
            <a:off x="895350" y="2190750"/>
            <a:ext cx="3219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Design principles</a:t>
            </a:r>
          </a:p>
        </p:txBody>
      </p:sp>
      <p:sp>
        <p:nvSpPr>
          <p:cNvPr id="11" name="a1-body">
            <a:extLst>
              <a:ext uri="{FF2B5EF4-FFF2-40B4-BE49-F238E27FC236}">
                <a16:creationId xmlns:a16="http://schemas.microsoft.com/office/drawing/2014/main" id="{6CCBC55E-3002-4D3C-9589-95BBEBF8E17E}"/>
              </a:ext>
            </a:extLst>
          </p:cNvPr>
          <p:cNvSpPr>
            <a:spLocks noGrp="1"/>
          </p:cNvSpPr>
          <p:nvPr/>
        </p:nvSpPr>
        <p:spPr>
          <a:xfrm>
            <a:off x="895350" y="2533650"/>
            <a:ext cx="321945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Keep each module isolated so it can be tested independently.</a:t>
            </a:r>
          </a:p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Process candidate records in batches for better performance on large JSONL files.</a:t>
            </a:r>
          </a:p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Separate scoring from ranking so the final decision remains auditable.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2C1C54C-B29C-412C-A062-B560BB1B9820}"/>
              </a:ext>
            </a:extLst>
          </p:cNvPr>
          <p:cNvSpPr>
            <a:spLocks noGrp="1"/>
          </p:cNvSpPr>
          <p:nvPr/>
        </p:nvSpPr>
        <p:spPr>
          <a:xfrm>
            <a:off x="4857750" y="2019300"/>
            <a:ext cx="59817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lay0">
            <a:extLst>
              <a:ext uri="{FF2B5EF4-FFF2-40B4-BE49-F238E27FC236}">
                <a16:creationId xmlns:a16="http://schemas.microsoft.com/office/drawing/2014/main" id="{7056A35F-C8C8-4D2F-B7A5-C86E7F85BB5D}"/>
              </a:ext>
            </a:extLst>
          </p:cNvPr>
          <p:cNvSpPr>
            <a:spLocks noGrp="1"/>
          </p:cNvSpPr>
          <p:nvPr/>
        </p:nvSpPr>
        <p:spPr>
          <a:xfrm>
            <a:off x="5029200" y="2190750"/>
            <a:ext cx="1143000" cy="26670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4" name="lay0-t">
            <a:extLst>
              <a:ext uri="{FF2B5EF4-FFF2-40B4-BE49-F238E27FC236}">
                <a16:creationId xmlns:a16="http://schemas.microsoft.com/office/drawing/2014/main" id="{56FED47F-B644-422D-8C06-6BC919D1C417}"/>
              </a:ext>
            </a:extLst>
          </p:cNvPr>
          <p:cNvSpPr>
            <a:spLocks noGrp="1"/>
          </p:cNvSpPr>
          <p:nvPr/>
        </p:nvSpPr>
        <p:spPr>
          <a:xfrm>
            <a:off x="5029200" y="2200275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52FDB4-03C5-4CD3-91EC-8431FB90F6D7}"/>
              </a:ext>
            </a:extLst>
          </p:cNvPr>
          <p:cNvSpPr>
            <a:spLocks noGrp="1"/>
          </p:cNvSpPr>
          <p:nvPr/>
        </p:nvSpPr>
        <p:spPr>
          <a:xfrm>
            <a:off x="6381750" y="2190750"/>
            <a:ext cx="426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candidates.jsonl, job_description.docx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45329D-DB04-4EF7-B2B8-6B786BA7E19A}"/>
              </a:ext>
            </a:extLst>
          </p:cNvPr>
          <p:cNvSpPr>
            <a:spLocks noGrp="1"/>
          </p:cNvSpPr>
          <p:nvPr/>
        </p:nvSpPr>
        <p:spPr>
          <a:xfrm>
            <a:off x="7677150" y="27051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5758" lnSpcReduction="10000"/>
          </a:bodyPr>
          <a:lstStyle/>
          <a:p>
            <a:pPr algn="ctr">
              <a:defRPr sz="16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6A225E9-1001-4049-AF56-A393F2F58F67}"/>
              </a:ext>
            </a:extLst>
          </p:cNvPr>
          <p:cNvSpPr>
            <a:spLocks noGrp="1"/>
          </p:cNvSpPr>
          <p:nvPr/>
        </p:nvSpPr>
        <p:spPr>
          <a:xfrm>
            <a:off x="4857750" y="2819400"/>
            <a:ext cx="59817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8" name="lay1">
            <a:extLst>
              <a:ext uri="{FF2B5EF4-FFF2-40B4-BE49-F238E27FC236}">
                <a16:creationId xmlns:a16="http://schemas.microsoft.com/office/drawing/2014/main" id="{126F431A-7B7B-4163-8B57-81A17EA3A4B9}"/>
              </a:ext>
            </a:extLst>
          </p:cNvPr>
          <p:cNvSpPr>
            <a:spLocks noGrp="1"/>
          </p:cNvSpPr>
          <p:nvPr/>
        </p:nvSpPr>
        <p:spPr>
          <a:xfrm>
            <a:off x="5029200" y="2990850"/>
            <a:ext cx="1143000" cy="266700"/>
          </a:xfrm>
          <a:prstGeom prst="roundRect">
            <a:avLst>
              <a:gd name="adj" fmla="val 28571"/>
            </a:avLst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19" name="lay1-t">
            <a:extLst>
              <a:ext uri="{FF2B5EF4-FFF2-40B4-BE49-F238E27FC236}">
                <a16:creationId xmlns:a16="http://schemas.microsoft.com/office/drawing/2014/main" id="{0B9AD4CC-EC90-4EAF-8E94-86CF36EE91A6}"/>
              </a:ext>
            </a:extLst>
          </p:cNvPr>
          <p:cNvSpPr>
            <a:spLocks noGrp="1"/>
          </p:cNvSpPr>
          <p:nvPr/>
        </p:nvSpPr>
        <p:spPr>
          <a:xfrm>
            <a:off x="5029200" y="3000375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Parsing &amp; Text Prep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02967D-472D-433F-AFA3-D21BED55FE86}"/>
              </a:ext>
            </a:extLst>
          </p:cNvPr>
          <p:cNvSpPr>
            <a:spLocks noGrp="1"/>
          </p:cNvSpPr>
          <p:nvPr/>
        </p:nvSpPr>
        <p:spPr>
          <a:xfrm>
            <a:off x="6381750" y="2990850"/>
            <a:ext cx="426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Candidate object creation and text normalization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B6ED23-1B1D-405E-BA49-49907958B035}"/>
              </a:ext>
            </a:extLst>
          </p:cNvPr>
          <p:cNvSpPr>
            <a:spLocks noGrp="1"/>
          </p:cNvSpPr>
          <p:nvPr/>
        </p:nvSpPr>
        <p:spPr>
          <a:xfrm>
            <a:off x="7677150" y="35052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5758" lnSpcReduction="10000"/>
          </a:bodyPr>
          <a:lstStyle/>
          <a:p>
            <a:pPr algn="ctr">
              <a:defRPr sz="16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F35BD27-21A4-4CC0-9D1E-D4C97C5D54CB}"/>
              </a:ext>
            </a:extLst>
          </p:cNvPr>
          <p:cNvSpPr>
            <a:spLocks noGrp="1"/>
          </p:cNvSpPr>
          <p:nvPr/>
        </p:nvSpPr>
        <p:spPr>
          <a:xfrm>
            <a:off x="4857750" y="3619500"/>
            <a:ext cx="59817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3" name="lay2">
            <a:extLst>
              <a:ext uri="{FF2B5EF4-FFF2-40B4-BE49-F238E27FC236}">
                <a16:creationId xmlns:a16="http://schemas.microsoft.com/office/drawing/2014/main" id="{0B21FD24-FC26-401E-A716-BC4CBCC0B134}"/>
              </a:ext>
            </a:extLst>
          </p:cNvPr>
          <p:cNvSpPr>
            <a:spLocks noGrp="1"/>
          </p:cNvSpPr>
          <p:nvPr/>
        </p:nvSpPr>
        <p:spPr>
          <a:xfrm>
            <a:off x="5029200" y="3790950"/>
            <a:ext cx="1143000" cy="266700"/>
          </a:xfrm>
          <a:prstGeom prst="roundRect">
            <a:avLst>
              <a:gd name="adj" fmla="val 28571"/>
            </a:avLst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4" name="lay2-t">
            <a:extLst>
              <a:ext uri="{FF2B5EF4-FFF2-40B4-BE49-F238E27FC236}">
                <a16:creationId xmlns:a16="http://schemas.microsoft.com/office/drawing/2014/main" id="{D1913690-395D-409F-BC36-A364A1CDA9A4}"/>
              </a:ext>
            </a:extLst>
          </p:cNvPr>
          <p:cNvSpPr>
            <a:spLocks noGrp="1"/>
          </p:cNvSpPr>
          <p:nvPr/>
        </p:nvSpPr>
        <p:spPr>
          <a:xfrm>
            <a:off x="5029200" y="3800475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Scoring Engine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2B607F1-2DB8-4649-ADBE-FD06C7287E3C}"/>
              </a:ext>
            </a:extLst>
          </p:cNvPr>
          <p:cNvSpPr>
            <a:spLocks noGrp="1"/>
          </p:cNvSpPr>
          <p:nvPr/>
        </p:nvSpPr>
        <p:spPr>
          <a:xfrm>
            <a:off x="6381750" y="3790950"/>
            <a:ext cx="426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Semantic, skill, experience, behavior, product fit, and title scores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D1F17A-3B36-400B-B648-F56539E231F8}"/>
              </a:ext>
            </a:extLst>
          </p:cNvPr>
          <p:cNvSpPr>
            <a:spLocks noGrp="1"/>
          </p:cNvSpPr>
          <p:nvPr/>
        </p:nvSpPr>
        <p:spPr>
          <a:xfrm>
            <a:off x="7677150" y="43053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5758" lnSpcReduction="10000"/>
          </a:bodyPr>
          <a:lstStyle/>
          <a:p>
            <a:pPr algn="ctr">
              <a:defRPr sz="16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BCC57FC-9566-47C9-B483-0FBFD4E68303}"/>
              </a:ext>
            </a:extLst>
          </p:cNvPr>
          <p:cNvSpPr>
            <a:spLocks noGrp="1"/>
          </p:cNvSpPr>
          <p:nvPr/>
        </p:nvSpPr>
        <p:spPr>
          <a:xfrm>
            <a:off x="4857750" y="4419600"/>
            <a:ext cx="598170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28" name="lay3">
            <a:extLst>
              <a:ext uri="{FF2B5EF4-FFF2-40B4-BE49-F238E27FC236}">
                <a16:creationId xmlns:a16="http://schemas.microsoft.com/office/drawing/2014/main" id="{3F3D0080-DC35-4CF2-8600-EE62A5E93DB5}"/>
              </a:ext>
            </a:extLst>
          </p:cNvPr>
          <p:cNvSpPr>
            <a:spLocks noGrp="1"/>
          </p:cNvSpPr>
          <p:nvPr/>
        </p:nvSpPr>
        <p:spPr>
          <a:xfrm>
            <a:off x="5029200" y="4591050"/>
            <a:ext cx="1143000" cy="266700"/>
          </a:xfrm>
          <a:prstGeom prst="roundRect">
            <a:avLst>
              <a:gd name="adj" fmla="val 28571"/>
            </a:avLst>
          </a:prstGeom>
          <a:solidFill>
            <a:srgbClr val="E11D48"/>
          </a:solidFill>
          <a:ln w="0">
            <a:solidFill>
              <a:srgbClr val="E11D48"/>
            </a:solidFill>
            <a:prstDash val="solid"/>
          </a:ln>
        </p:spPr>
      </p:sp>
      <p:sp>
        <p:nvSpPr>
          <p:cNvPr id="29" name="lay3-t">
            <a:extLst>
              <a:ext uri="{FF2B5EF4-FFF2-40B4-BE49-F238E27FC236}">
                <a16:creationId xmlns:a16="http://schemas.microsoft.com/office/drawing/2014/main" id="{C55F359F-F10C-4388-ACE8-9DC339DE6066}"/>
              </a:ext>
            </a:extLst>
          </p:cNvPr>
          <p:cNvSpPr>
            <a:spLocks noGrp="1"/>
          </p:cNvSpPr>
          <p:nvPr/>
        </p:nvSpPr>
        <p:spPr>
          <a:xfrm>
            <a:off x="5029200" y="4600575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 Layer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A1F67EB-B80F-4751-B88D-BEFD81A50CA8}"/>
              </a:ext>
            </a:extLst>
          </p:cNvPr>
          <p:cNvSpPr>
            <a:spLocks noGrp="1"/>
          </p:cNvSpPr>
          <p:nvPr/>
        </p:nvSpPr>
        <p:spPr>
          <a:xfrm>
            <a:off x="6381750" y="4591050"/>
            <a:ext cx="426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Final ranking, reasoning, submission.csv, and dashboard views</a:t>
            </a:r>
          </a:p>
        </p:txBody>
      </p:sp>
    </p:spTree>
    <p:extLst>
      <p:ext uri="{BB962C8B-B14F-4D97-AF65-F5344CB8AC3E}">
        <p14:creationId xmlns:p14="http://schemas.microsoft.com/office/powerpoint/2010/main" val="561708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34A131A5-462E-4AFD-B6B4-986D1C818E1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1714500" cy="57150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2" name="h6">
            <a:extLst>
              <a:ext uri="{FF2B5EF4-FFF2-40B4-BE49-F238E27FC236}">
                <a16:creationId xmlns:a16="http://schemas.microsoft.com/office/drawing/2014/main" id="{A2B02827-EAE5-4C2B-89BE-6DC66C45FC6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286000" cy="285750"/>
          </a:xfrm>
          <a:prstGeom prst="roundRect">
            <a:avLst>
              <a:gd name="adj" fmla="val 26667"/>
            </a:avLst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3" name="h6-t">
            <a:extLst>
              <a:ext uri="{FF2B5EF4-FFF2-40B4-BE49-F238E27FC236}">
                <a16:creationId xmlns:a16="http://schemas.microsoft.com/office/drawing/2014/main" id="{B2DFD485-FF1E-4325-849D-27F8B4E70064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 | Workflow</a:t>
            </a:r>
          </a:p>
        </p:txBody>
      </p:sp>
      <p:sp>
        <p:nvSpPr>
          <p:cNvPr id="4" name="t6">
            <a:extLst>
              <a:ext uri="{FF2B5EF4-FFF2-40B4-BE49-F238E27FC236}">
                <a16:creationId xmlns:a16="http://schemas.microsoft.com/office/drawing/2014/main" id="{0480706F-D10F-4272-828B-A26262D0BCCA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Workflow Diagram</a:t>
            </a:r>
          </a:p>
        </p:txBody>
      </p:sp>
      <p:sp>
        <p:nvSpPr>
          <p:cNvPr id="5" name="s6">
            <a:extLst>
              <a:ext uri="{FF2B5EF4-FFF2-40B4-BE49-F238E27FC236}">
                <a16:creationId xmlns:a16="http://schemas.microsoft.com/office/drawing/2014/main" id="{9D046723-C156-4455-8D5A-A7F6F0C15ADB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execution path is optimized for large datasets: read once, score in batches, rank once.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ADAF51-0939-448A-A771-4180D488C096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Recruitment System | Data &amp; AI Hackathon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FD00D1-F567-4AD9-8F4E-B8353A29AEEC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B0DDD77-FB14-4CA5-9D2C-92614C21636F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18859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wf0">
            <a:extLst>
              <a:ext uri="{FF2B5EF4-FFF2-40B4-BE49-F238E27FC236}">
                <a16:creationId xmlns:a16="http://schemas.microsoft.com/office/drawing/2014/main" id="{E15B886B-4B41-4739-8A2A-87D37B161378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419100" cy="26670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0" name="wf0-t">
            <a:extLst>
              <a:ext uri="{FF2B5EF4-FFF2-40B4-BE49-F238E27FC236}">
                <a16:creationId xmlns:a16="http://schemas.microsoft.com/office/drawing/2014/main" id="{99E4AF27-7224-4E4C-A62E-3F99C26648B5}"/>
              </a:ext>
            </a:extLst>
          </p:cNvPr>
          <p:cNvSpPr>
            <a:spLocks noGrp="1"/>
          </p:cNvSpPr>
          <p:nvPr/>
        </p:nvSpPr>
        <p:spPr>
          <a:xfrm>
            <a:off x="838200" y="223837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51647C-A5B1-43F8-8335-25464DE7636A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Load inputs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C73D81-94D6-425A-9847-E07C3BCE8E60}"/>
              </a:ext>
            </a:extLst>
          </p:cNvPr>
          <p:cNvSpPr>
            <a:spLocks noGrp="1"/>
          </p:cNvSpPr>
          <p:nvPr/>
        </p:nvSpPr>
        <p:spPr>
          <a:xfrm>
            <a:off x="838200" y="2952750"/>
            <a:ext cx="1581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Read JSONL candidates and the job description document.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B7052A-2FB2-4661-A7E9-D4B94E5731DB}"/>
              </a:ext>
            </a:extLst>
          </p:cNvPr>
          <p:cNvSpPr>
            <a:spLocks noGrp="1"/>
          </p:cNvSpPr>
          <p:nvPr/>
        </p:nvSpPr>
        <p:spPr>
          <a:xfrm>
            <a:off x="2590800" y="2647950"/>
            <a:ext cx="17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A73ED0F-CB17-413E-A659-D49D747E43E2}"/>
              </a:ext>
            </a:extLst>
          </p:cNvPr>
          <p:cNvSpPr>
            <a:spLocks noGrp="1"/>
          </p:cNvSpPr>
          <p:nvPr/>
        </p:nvSpPr>
        <p:spPr>
          <a:xfrm>
            <a:off x="2705100" y="2076450"/>
            <a:ext cx="18859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4288">
            <a:solidFill>
              <a:srgbClr val="14B8A6"/>
            </a:solidFill>
            <a:prstDash val="solid"/>
          </a:ln>
        </p:spPr>
      </p:sp>
      <p:sp>
        <p:nvSpPr>
          <p:cNvPr id="15" name="wf1">
            <a:extLst>
              <a:ext uri="{FF2B5EF4-FFF2-40B4-BE49-F238E27FC236}">
                <a16:creationId xmlns:a16="http://schemas.microsoft.com/office/drawing/2014/main" id="{ADED3F59-FFF0-459F-8ACE-139C26FA41BF}"/>
              </a:ext>
            </a:extLst>
          </p:cNvPr>
          <p:cNvSpPr>
            <a:spLocks noGrp="1"/>
          </p:cNvSpPr>
          <p:nvPr/>
        </p:nvSpPr>
        <p:spPr>
          <a:xfrm>
            <a:off x="2857500" y="2228850"/>
            <a:ext cx="419100" cy="266700"/>
          </a:xfrm>
          <a:prstGeom prst="roundRect">
            <a:avLst>
              <a:gd name="adj" fmla="val 28571"/>
            </a:avLst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16" name="wf1-t">
            <a:extLst>
              <a:ext uri="{FF2B5EF4-FFF2-40B4-BE49-F238E27FC236}">
                <a16:creationId xmlns:a16="http://schemas.microsoft.com/office/drawing/2014/main" id="{0036042E-B2BB-4D55-8937-1A255D514AF6}"/>
              </a:ext>
            </a:extLst>
          </p:cNvPr>
          <p:cNvSpPr>
            <a:spLocks noGrp="1"/>
          </p:cNvSpPr>
          <p:nvPr/>
        </p:nvSpPr>
        <p:spPr>
          <a:xfrm>
            <a:off x="2857500" y="223837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17D297-1C45-4A7C-A160-B9D88002F67F}"/>
              </a:ext>
            </a:extLst>
          </p:cNvPr>
          <p:cNvSpPr>
            <a:spLocks noGrp="1"/>
          </p:cNvSpPr>
          <p:nvPr/>
        </p:nvSpPr>
        <p:spPr>
          <a:xfrm>
            <a:off x="2857500" y="2628900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Parse profiles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4DBC0D-CD58-4F6B-B64C-405D6A45E83C}"/>
              </a:ext>
            </a:extLst>
          </p:cNvPr>
          <p:cNvSpPr>
            <a:spLocks noGrp="1"/>
          </p:cNvSpPr>
          <p:nvPr/>
        </p:nvSpPr>
        <p:spPr>
          <a:xfrm>
            <a:off x="2857500" y="2952750"/>
            <a:ext cx="1581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Normalize candidate fields into a consistent object model.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8B3B3A-8BCD-4CC4-ACDB-08AC1CFB6596}"/>
              </a:ext>
            </a:extLst>
          </p:cNvPr>
          <p:cNvSpPr>
            <a:spLocks noGrp="1"/>
          </p:cNvSpPr>
          <p:nvPr/>
        </p:nvSpPr>
        <p:spPr>
          <a:xfrm>
            <a:off x="4610100" y="2647950"/>
            <a:ext cx="17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6B58454-E50C-475A-99A5-F3B705528BF8}"/>
              </a:ext>
            </a:extLst>
          </p:cNvPr>
          <p:cNvSpPr>
            <a:spLocks noGrp="1"/>
          </p:cNvSpPr>
          <p:nvPr/>
        </p:nvSpPr>
        <p:spPr>
          <a:xfrm>
            <a:off x="4724400" y="2076450"/>
            <a:ext cx="18859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wf2">
            <a:extLst>
              <a:ext uri="{FF2B5EF4-FFF2-40B4-BE49-F238E27FC236}">
                <a16:creationId xmlns:a16="http://schemas.microsoft.com/office/drawing/2014/main" id="{95DF3674-3542-4D39-8BA1-D7784652EAD3}"/>
              </a:ext>
            </a:extLst>
          </p:cNvPr>
          <p:cNvSpPr>
            <a:spLocks noGrp="1"/>
          </p:cNvSpPr>
          <p:nvPr/>
        </p:nvSpPr>
        <p:spPr>
          <a:xfrm>
            <a:off x="4876800" y="2228850"/>
            <a:ext cx="419100" cy="26670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2" name="wf2-t">
            <a:extLst>
              <a:ext uri="{FF2B5EF4-FFF2-40B4-BE49-F238E27FC236}">
                <a16:creationId xmlns:a16="http://schemas.microsoft.com/office/drawing/2014/main" id="{465F4854-980C-4EBC-8ABE-558C76448568}"/>
              </a:ext>
            </a:extLst>
          </p:cNvPr>
          <p:cNvSpPr>
            <a:spLocks noGrp="1"/>
          </p:cNvSpPr>
          <p:nvPr/>
        </p:nvSpPr>
        <p:spPr>
          <a:xfrm>
            <a:off x="4876800" y="223837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396E9F-22DE-4AEB-BBC0-22CF5E9E81DE}"/>
              </a:ext>
            </a:extLst>
          </p:cNvPr>
          <p:cNvSpPr>
            <a:spLocks noGrp="1"/>
          </p:cNvSpPr>
          <p:nvPr/>
        </p:nvSpPr>
        <p:spPr>
          <a:xfrm>
            <a:off x="4876800" y="2628900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Batch score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A4D72E-4B84-4F24-9E50-EE874AC96341}"/>
              </a:ext>
            </a:extLst>
          </p:cNvPr>
          <p:cNvSpPr>
            <a:spLocks noGrp="1"/>
          </p:cNvSpPr>
          <p:nvPr/>
        </p:nvSpPr>
        <p:spPr>
          <a:xfrm>
            <a:off x="4876800" y="2952750"/>
            <a:ext cx="1581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Run the semantic model and modular scorers over chunks.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915ABE-4A15-49DF-84FD-48419087D5AB}"/>
              </a:ext>
            </a:extLst>
          </p:cNvPr>
          <p:cNvSpPr>
            <a:spLocks noGrp="1"/>
          </p:cNvSpPr>
          <p:nvPr/>
        </p:nvSpPr>
        <p:spPr>
          <a:xfrm>
            <a:off x="6629400" y="2647950"/>
            <a:ext cx="17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800E38F-8EFD-4AF0-8E2D-931AC034E09B}"/>
              </a:ext>
            </a:extLst>
          </p:cNvPr>
          <p:cNvSpPr>
            <a:spLocks noGrp="1"/>
          </p:cNvSpPr>
          <p:nvPr/>
        </p:nvSpPr>
        <p:spPr>
          <a:xfrm>
            <a:off x="6743700" y="2076450"/>
            <a:ext cx="18859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4288">
            <a:solidFill>
              <a:srgbClr val="14B8A6"/>
            </a:solidFill>
            <a:prstDash val="solid"/>
          </a:ln>
        </p:spPr>
      </p:sp>
      <p:sp>
        <p:nvSpPr>
          <p:cNvPr id="27" name="wf3">
            <a:extLst>
              <a:ext uri="{FF2B5EF4-FFF2-40B4-BE49-F238E27FC236}">
                <a16:creationId xmlns:a16="http://schemas.microsoft.com/office/drawing/2014/main" id="{73EE21CC-B224-406F-BE71-021688A6063A}"/>
              </a:ext>
            </a:extLst>
          </p:cNvPr>
          <p:cNvSpPr>
            <a:spLocks noGrp="1"/>
          </p:cNvSpPr>
          <p:nvPr/>
        </p:nvSpPr>
        <p:spPr>
          <a:xfrm>
            <a:off x="6896100" y="2228850"/>
            <a:ext cx="419100" cy="266700"/>
          </a:xfrm>
          <a:prstGeom prst="roundRect">
            <a:avLst>
              <a:gd name="adj" fmla="val 28571"/>
            </a:avLst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28" name="wf3-t">
            <a:extLst>
              <a:ext uri="{FF2B5EF4-FFF2-40B4-BE49-F238E27FC236}">
                <a16:creationId xmlns:a16="http://schemas.microsoft.com/office/drawing/2014/main" id="{79BFE0E3-FCA9-4768-9E5C-0155E6DBEC6A}"/>
              </a:ext>
            </a:extLst>
          </p:cNvPr>
          <p:cNvSpPr>
            <a:spLocks noGrp="1"/>
          </p:cNvSpPr>
          <p:nvPr/>
        </p:nvSpPr>
        <p:spPr>
          <a:xfrm>
            <a:off x="6896100" y="223837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1D3A9E7-1995-4B81-A35B-9F1EFC8377BF}"/>
              </a:ext>
            </a:extLst>
          </p:cNvPr>
          <p:cNvSpPr>
            <a:spLocks noGrp="1"/>
          </p:cNvSpPr>
          <p:nvPr/>
        </p:nvSpPr>
        <p:spPr>
          <a:xfrm>
            <a:off x="6896100" y="2628900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Rank &amp; explain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048205-D06F-430C-93A4-7FA396C375DE}"/>
              </a:ext>
            </a:extLst>
          </p:cNvPr>
          <p:cNvSpPr>
            <a:spLocks noGrp="1"/>
          </p:cNvSpPr>
          <p:nvPr/>
        </p:nvSpPr>
        <p:spPr>
          <a:xfrm>
            <a:off x="6896100" y="2952750"/>
            <a:ext cx="1581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Sort by final score and create recruiter-friendly reasoning.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1A34594-383A-43DA-9BAF-DCE9AB1AFA0E}"/>
              </a:ext>
            </a:extLst>
          </p:cNvPr>
          <p:cNvSpPr>
            <a:spLocks noGrp="1"/>
          </p:cNvSpPr>
          <p:nvPr/>
        </p:nvSpPr>
        <p:spPr>
          <a:xfrm>
            <a:off x="8648700" y="2647950"/>
            <a:ext cx="17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7A6A538-E614-4B12-AA21-9118DD218C15}"/>
              </a:ext>
            </a:extLst>
          </p:cNvPr>
          <p:cNvSpPr>
            <a:spLocks noGrp="1"/>
          </p:cNvSpPr>
          <p:nvPr/>
        </p:nvSpPr>
        <p:spPr>
          <a:xfrm>
            <a:off x="8763000" y="2076450"/>
            <a:ext cx="18859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wf4">
            <a:extLst>
              <a:ext uri="{FF2B5EF4-FFF2-40B4-BE49-F238E27FC236}">
                <a16:creationId xmlns:a16="http://schemas.microsoft.com/office/drawing/2014/main" id="{886EBE78-98B1-4B90-A6CB-6D8E5F48F5D4}"/>
              </a:ext>
            </a:extLst>
          </p:cNvPr>
          <p:cNvSpPr>
            <a:spLocks noGrp="1"/>
          </p:cNvSpPr>
          <p:nvPr/>
        </p:nvSpPr>
        <p:spPr>
          <a:xfrm>
            <a:off x="8915400" y="2228850"/>
            <a:ext cx="419100" cy="26670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34" name="wf4-t">
            <a:extLst>
              <a:ext uri="{FF2B5EF4-FFF2-40B4-BE49-F238E27FC236}">
                <a16:creationId xmlns:a16="http://schemas.microsoft.com/office/drawing/2014/main" id="{CA778A3D-0D4A-4C78-BCFF-6431FF216B3A}"/>
              </a:ext>
            </a:extLst>
          </p:cNvPr>
          <p:cNvSpPr>
            <a:spLocks noGrp="1"/>
          </p:cNvSpPr>
          <p:nvPr/>
        </p:nvSpPr>
        <p:spPr>
          <a:xfrm>
            <a:off x="8915400" y="223837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9135781-4DB4-49A8-BBE3-2F8E98076BA9}"/>
              </a:ext>
            </a:extLst>
          </p:cNvPr>
          <p:cNvSpPr>
            <a:spLocks noGrp="1"/>
          </p:cNvSpPr>
          <p:nvPr/>
        </p:nvSpPr>
        <p:spPr>
          <a:xfrm>
            <a:off x="8915400" y="2628900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Export results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2E5C813-627F-48FF-BF48-7F38E0E132DE}"/>
              </a:ext>
            </a:extLst>
          </p:cNvPr>
          <p:cNvSpPr>
            <a:spLocks noGrp="1"/>
          </p:cNvSpPr>
          <p:nvPr/>
        </p:nvSpPr>
        <p:spPr>
          <a:xfrm>
            <a:off x="8915400" y="2952750"/>
            <a:ext cx="1581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Write submission.csv with the final ranked list.</a:t>
            </a:r>
          </a:p>
        </p:txBody>
      </p:sp>
      <p:sp>
        <p:nvSpPr>
          <p:cNvPr id="37" name="wf-note-bg">
            <a:extLst>
              <a:ext uri="{FF2B5EF4-FFF2-40B4-BE49-F238E27FC236}">
                <a16:creationId xmlns:a16="http://schemas.microsoft.com/office/drawing/2014/main" id="{535811E5-CDC9-4825-AC7B-69BA4F674123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10820400" cy="17335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wf-note-a">
            <a:extLst>
              <a:ext uri="{FF2B5EF4-FFF2-40B4-BE49-F238E27FC236}">
                <a16:creationId xmlns:a16="http://schemas.microsoft.com/office/drawing/2014/main" id="{1BD5771A-9C76-4FAC-8273-23A0DA2A4B53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76200" cy="173355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39" name="wf-note-title">
            <a:extLst>
              <a:ext uri="{FF2B5EF4-FFF2-40B4-BE49-F238E27FC236}">
                <a16:creationId xmlns:a16="http://schemas.microsoft.com/office/drawing/2014/main" id="{FA921FAA-A1B4-4250-A4A6-A13F2ADB6E5C}"/>
              </a:ext>
            </a:extLst>
          </p:cNvPr>
          <p:cNvSpPr>
            <a:spLocks noGrp="1"/>
          </p:cNvSpPr>
          <p:nvPr/>
        </p:nvSpPr>
        <p:spPr>
          <a:xfrm>
            <a:off x="895350" y="4152900"/>
            <a:ext cx="10401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Performance notes</a:t>
            </a:r>
          </a:p>
        </p:txBody>
      </p:sp>
      <p:sp>
        <p:nvSpPr>
          <p:cNvPr id="40" name="wf-note-body">
            <a:extLst>
              <a:ext uri="{FF2B5EF4-FFF2-40B4-BE49-F238E27FC236}">
                <a16:creationId xmlns:a16="http://schemas.microsoft.com/office/drawing/2014/main" id="{F4FFB569-D5D7-4DA9-A43F-D02A1C95BE56}"/>
              </a:ext>
            </a:extLst>
          </p:cNvPr>
          <p:cNvSpPr>
            <a:spLocks noGrp="1"/>
          </p:cNvSpPr>
          <p:nvPr/>
        </p:nvSpPr>
        <p:spPr>
          <a:xfrm>
            <a:off x="895350" y="4495800"/>
            <a:ext cx="104013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Semantic similarity is computed in batches to keep runtime practical for large candidate pools.</a:t>
            </a:r>
          </a:p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All other scoring modules are lightweight and run in pure Python.</a:t>
            </a:r>
          </a:p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final ranking pass is a single sort over the scored rows.</a:t>
            </a:r>
          </a:p>
        </p:txBody>
      </p:sp>
    </p:spTree>
    <p:extLst>
      <p:ext uri="{BB962C8B-B14F-4D97-AF65-F5344CB8AC3E}">
        <p14:creationId xmlns:p14="http://schemas.microsoft.com/office/powerpoint/2010/main" val="588860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5BAF04BC-0885-4A63-8D94-CFCC1D1EF817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1714500" cy="57150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2" name="h7">
            <a:extLst>
              <a:ext uri="{FF2B5EF4-FFF2-40B4-BE49-F238E27FC236}">
                <a16:creationId xmlns:a16="http://schemas.microsoft.com/office/drawing/2014/main" id="{7B60779E-5337-4015-8E90-48225A22760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286000" cy="285750"/>
          </a:xfrm>
          <a:prstGeom prst="roundRect">
            <a:avLst>
              <a:gd name="adj" fmla="val 26667"/>
            </a:avLst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3" name="h7-t">
            <a:extLst>
              <a:ext uri="{FF2B5EF4-FFF2-40B4-BE49-F238E27FC236}">
                <a16:creationId xmlns:a16="http://schemas.microsoft.com/office/drawing/2014/main" id="{B9B6BBB9-EA88-48C2-9671-43F91A2AFB35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07 | Stack</a:t>
            </a:r>
          </a:p>
        </p:txBody>
      </p:sp>
      <p:sp>
        <p:nvSpPr>
          <p:cNvPr id="4" name="t7">
            <a:extLst>
              <a:ext uri="{FF2B5EF4-FFF2-40B4-BE49-F238E27FC236}">
                <a16:creationId xmlns:a16="http://schemas.microsoft.com/office/drawing/2014/main" id="{398AC62D-3898-457A-9742-6E03B4A56DC5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Technology Stack</a:t>
            </a:r>
          </a:p>
        </p:txBody>
      </p:sp>
      <p:sp>
        <p:nvSpPr>
          <p:cNvPr id="5" name="s7">
            <a:extLst>
              <a:ext uri="{FF2B5EF4-FFF2-40B4-BE49-F238E27FC236}">
                <a16:creationId xmlns:a16="http://schemas.microsoft.com/office/drawing/2014/main" id="{3E359A88-829F-4851-BF99-311B0E9118CB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Each layer of the stack was chosen to balance speed, signal quality, and presentation value.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1C3788-0465-4502-8BC6-13E2BACEEAEF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Recruitment System | Data &amp; AI Hackathon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D9D1AD-EE66-4974-A307-B38D5B534C5A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8B425F-B615-418C-A5F9-AD9FE04074B4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342900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6F543F-47C2-4067-A08C-BDEF85A63C0B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3429000" cy="762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48D5ED-8250-4537-8705-2F496E51F476}"/>
              </a:ext>
            </a:extLst>
          </p:cNvPr>
          <p:cNvSpPr>
            <a:spLocks noGrp="1"/>
          </p:cNvSpPr>
          <p:nvPr/>
        </p:nvSpPr>
        <p:spPr>
          <a:xfrm>
            <a:off x="857250" y="2324100"/>
            <a:ext cx="295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Python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7A9BAA-8053-4FB8-A503-F6894A0FD38F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971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Primary application language and orchestration layer.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56369A-850C-4400-A24E-5C3EBC9C6A77}"/>
              </a:ext>
            </a:extLst>
          </p:cNvPr>
          <p:cNvSpPr>
            <a:spLocks noGrp="1"/>
          </p:cNvSpPr>
          <p:nvPr/>
        </p:nvSpPr>
        <p:spPr>
          <a:xfrm>
            <a:off x="857250" y="3124200"/>
            <a:ext cx="857250" cy="22860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3" name="pill-t">
            <a:extLst>
              <a:ext uri="{FF2B5EF4-FFF2-40B4-BE49-F238E27FC236}">
                <a16:creationId xmlns:a16="http://schemas.microsoft.com/office/drawing/2014/main" id="{2BB97361-3840-40C7-A683-0404D189C45E}"/>
              </a:ext>
            </a:extLst>
          </p:cNvPr>
          <p:cNvSpPr>
            <a:spLocks noGrp="1"/>
          </p:cNvSpPr>
          <p:nvPr/>
        </p:nvSpPr>
        <p:spPr>
          <a:xfrm>
            <a:off x="857250" y="313372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25D114C-2B19-4500-A119-AA8A094E469E}"/>
              </a:ext>
            </a:extLst>
          </p:cNvPr>
          <p:cNvSpPr>
            <a:spLocks noGrp="1"/>
          </p:cNvSpPr>
          <p:nvPr/>
        </p:nvSpPr>
        <p:spPr>
          <a:xfrm>
            <a:off x="4267200" y="2095500"/>
            <a:ext cx="342900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65D4F0-815C-4901-BE27-3E2A7AFDD17E}"/>
              </a:ext>
            </a:extLst>
          </p:cNvPr>
          <p:cNvSpPr>
            <a:spLocks noGrp="1"/>
          </p:cNvSpPr>
          <p:nvPr/>
        </p:nvSpPr>
        <p:spPr>
          <a:xfrm>
            <a:off x="4267200" y="2095500"/>
            <a:ext cx="3429000" cy="76200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08E17C-8063-4E09-A7AD-6F6E3A169B20}"/>
              </a:ext>
            </a:extLst>
          </p:cNvPr>
          <p:cNvSpPr>
            <a:spLocks noGrp="1"/>
          </p:cNvSpPr>
          <p:nvPr/>
        </p:nvSpPr>
        <p:spPr>
          <a:xfrm>
            <a:off x="4438650" y="2324100"/>
            <a:ext cx="295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Pandas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B7D302-706A-4012-8A54-A0F6B1B65D49}"/>
              </a:ext>
            </a:extLst>
          </p:cNvPr>
          <p:cNvSpPr>
            <a:spLocks noGrp="1"/>
          </p:cNvSpPr>
          <p:nvPr/>
        </p:nvSpPr>
        <p:spPr>
          <a:xfrm>
            <a:off x="4438650" y="2705100"/>
            <a:ext cx="2971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Data handling, tabular output, and CSV export.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21C093D-D02B-45EF-BFAD-8421BC053080}"/>
              </a:ext>
            </a:extLst>
          </p:cNvPr>
          <p:cNvSpPr>
            <a:spLocks noGrp="1"/>
          </p:cNvSpPr>
          <p:nvPr/>
        </p:nvSpPr>
        <p:spPr>
          <a:xfrm>
            <a:off x="4438650" y="3124200"/>
            <a:ext cx="857250" cy="228600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19" name="pill-t">
            <a:extLst>
              <a:ext uri="{FF2B5EF4-FFF2-40B4-BE49-F238E27FC236}">
                <a16:creationId xmlns:a16="http://schemas.microsoft.com/office/drawing/2014/main" id="{07790B57-C562-4B88-8B76-67DE0C6754E5}"/>
              </a:ext>
            </a:extLst>
          </p:cNvPr>
          <p:cNvSpPr>
            <a:spLocks noGrp="1"/>
          </p:cNvSpPr>
          <p:nvPr/>
        </p:nvSpPr>
        <p:spPr>
          <a:xfrm>
            <a:off x="4438650" y="313372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528F116-3913-4F77-8C2D-B9CEFB97836F}"/>
              </a:ext>
            </a:extLst>
          </p:cNvPr>
          <p:cNvSpPr>
            <a:spLocks noGrp="1"/>
          </p:cNvSpPr>
          <p:nvPr/>
        </p:nvSpPr>
        <p:spPr>
          <a:xfrm>
            <a:off x="7848600" y="2095500"/>
            <a:ext cx="342900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62C3A3-E2DF-431F-8C53-631E8FBBAE13}"/>
              </a:ext>
            </a:extLst>
          </p:cNvPr>
          <p:cNvSpPr>
            <a:spLocks noGrp="1"/>
          </p:cNvSpPr>
          <p:nvPr/>
        </p:nvSpPr>
        <p:spPr>
          <a:xfrm>
            <a:off x="7848600" y="2095500"/>
            <a:ext cx="3429000" cy="762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FB2EE9-D42C-4CAA-BBB7-ED187EFC941F}"/>
              </a:ext>
            </a:extLst>
          </p:cNvPr>
          <p:cNvSpPr>
            <a:spLocks noGrp="1"/>
          </p:cNvSpPr>
          <p:nvPr/>
        </p:nvSpPr>
        <p:spPr>
          <a:xfrm>
            <a:off x="8020050" y="2324100"/>
            <a:ext cx="295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NumPy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931DCA-535A-4C6A-8536-C377345CA722}"/>
              </a:ext>
            </a:extLst>
          </p:cNvPr>
          <p:cNvSpPr>
            <a:spLocks noGrp="1"/>
          </p:cNvSpPr>
          <p:nvPr/>
        </p:nvSpPr>
        <p:spPr>
          <a:xfrm>
            <a:off x="8020050" y="2705100"/>
            <a:ext cx="2971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Numeric utilities and efficient score operations.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0A3D563-E280-4EAC-8AAD-C206924E89FA}"/>
              </a:ext>
            </a:extLst>
          </p:cNvPr>
          <p:cNvSpPr>
            <a:spLocks noGrp="1"/>
          </p:cNvSpPr>
          <p:nvPr/>
        </p:nvSpPr>
        <p:spPr>
          <a:xfrm>
            <a:off x="8020050" y="3124200"/>
            <a:ext cx="857250" cy="228600"/>
          </a:xfrm>
          <a:prstGeom prst="roundRect">
            <a:avLst>
              <a:gd name="adj" fmla="val 33333"/>
            </a:avLst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5" name="pill-t">
            <a:extLst>
              <a:ext uri="{FF2B5EF4-FFF2-40B4-BE49-F238E27FC236}">
                <a16:creationId xmlns:a16="http://schemas.microsoft.com/office/drawing/2014/main" id="{2C209B1D-1A7E-46E4-B4CB-9F21A647FD79}"/>
              </a:ext>
            </a:extLst>
          </p:cNvPr>
          <p:cNvSpPr>
            <a:spLocks noGrp="1"/>
          </p:cNvSpPr>
          <p:nvPr/>
        </p:nvSpPr>
        <p:spPr>
          <a:xfrm>
            <a:off x="8020050" y="313372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3AAFF9A-BB89-4239-B641-09E0568ECDC5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342900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F24561-C545-4659-A03B-A0F92FBD3E3E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3429000" cy="76200"/>
          </a:xfrm>
          <a:prstGeom prst="rect">
            <a:avLst/>
          </a:prstGeom>
          <a:solidFill>
            <a:srgbClr val="E11D48"/>
          </a:solidFill>
          <a:ln w="0">
            <a:solidFill>
              <a:srgbClr val="E11D48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53AA52-8665-4942-952C-E83AF41ED5E5}"/>
              </a:ext>
            </a:extLst>
          </p:cNvPr>
          <p:cNvSpPr>
            <a:spLocks noGrp="1"/>
          </p:cNvSpPr>
          <p:nvPr/>
        </p:nvSpPr>
        <p:spPr>
          <a:xfrm>
            <a:off x="857250" y="3943350"/>
            <a:ext cx="295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Sentence Transformers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922A19-B1FE-4467-9F2E-651A381C7AFD}"/>
              </a:ext>
            </a:extLst>
          </p:cNvPr>
          <p:cNvSpPr>
            <a:spLocks noGrp="1"/>
          </p:cNvSpPr>
          <p:nvPr/>
        </p:nvSpPr>
        <p:spPr>
          <a:xfrm>
            <a:off x="857250" y="4324350"/>
            <a:ext cx="2971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Embedding-based semantic matching.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84357D8-8C3D-4E50-8FFC-FD9670E245A3}"/>
              </a:ext>
            </a:extLst>
          </p:cNvPr>
          <p:cNvSpPr>
            <a:spLocks noGrp="1"/>
          </p:cNvSpPr>
          <p:nvPr/>
        </p:nvSpPr>
        <p:spPr>
          <a:xfrm>
            <a:off x="857250" y="4743450"/>
            <a:ext cx="857250" cy="228600"/>
          </a:xfrm>
          <a:prstGeom prst="roundRect">
            <a:avLst>
              <a:gd name="adj" fmla="val 33333"/>
            </a:avLst>
          </a:prstGeom>
          <a:solidFill>
            <a:srgbClr val="E11D48"/>
          </a:solidFill>
          <a:ln w="0">
            <a:solidFill>
              <a:srgbClr val="E11D48"/>
            </a:solidFill>
            <a:prstDash val="solid"/>
          </a:ln>
        </p:spPr>
      </p:sp>
      <p:sp>
        <p:nvSpPr>
          <p:cNvPr id="31" name="pill-t">
            <a:extLst>
              <a:ext uri="{FF2B5EF4-FFF2-40B4-BE49-F238E27FC236}">
                <a16:creationId xmlns:a16="http://schemas.microsoft.com/office/drawing/2014/main" id="{348C172E-39C8-4FE8-B409-A13DC53E1CED}"/>
              </a:ext>
            </a:extLst>
          </p:cNvPr>
          <p:cNvSpPr>
            <a:spLocks noGrp="1"/>
          </p:cNvSpPr>
          <p:nvPr/>
        </p:nvSpPr>
        <p:spPr>
          <a:xfrm>
            <a:off x="857250" y="475297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NLP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A7E415F-2225-4931-B342-04FCD8C66111}"/>
              </a:ext>
            </a:extLst>
          </p:cNvPr>
          <p:cNvSpPr>
            <a:spLocks noGrp="1"/>
          </p:cNvSpPr>
          <p:nvPr/>
        </p:nvSpPr>
        <p:spPr>
          <a:xfrm>
            <a:off x="4267200" y="3714750"/>
            <a:ext cx="342900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5AD7B8E-822E-4FCE-9736-92BDAEA861C5}"/>
              </a:ext>
            </a:extLst>
          </p:cNvPr>
          <p:cNvSpPr>
            <a:spLocks noGrp="1"/>
          </p:cNvSpPr>
          <p:nvPr/>
        </p:nvSpPr>
        <p:spPr>
          <a:xfrm>
            <a:off x="4267200" y="3714750"/>
            <a:ext cx="3429000" cy="762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A1581AE-2235-4F24-8C33-BB27A3711DCC}"/>
              </a:ext>
            </a:extLst>
          </p:cNvPr>
          <p:cNvSpPr>
            <a:spLocks noGrp="1"/>
          </p:cNvSpPr>
          <p:nvPr/>
        </p:nvSpPr>
        <p:spPr>
          <a:xfrm>
            <a:off x="4438650" y="3943350"/>
            <a:ext cx="295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Scikit-Learn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3256C07-9A76-4604-A73F-14E13B8B045F}"/>
              </a:ext>
            </a:extLst>
          </p:cNvPr>
          <p:cNvSpPr>
            <a:spLocks noGrp="1"/>
          </p:cNvSpPr>
          <p:nvPr/>
        </p:nvSpPr>
        <p:spPr>
          <a:xfrm>
            <a:off x="4438650" y="4324350"/>
            <a:ext cx="2971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Cosine similarity and supporting ML utilities.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0B78992-A1BE-42D7-B450-D36E8D79BFBE}"/>
              </a:ext>
            </a:extLst>
          </p:cNvPr>
          <p:cNvSpPr>
            <a:spLocks noGrp="1"/>
          </p:cNvSpPr>
          <p:nvPr/>
        </p:nvSpPr>
        <p:spPr>
          <a:xfrm>
            <a:off x="4438650" y="4743450"/>
            <a:ext cx="857250" cy="228600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37" name="pill-t">
            <a:extLst>
              <a:ext uri="{FF2B5EF4-FFF2-40B4-BE49-F238E27FC236}">
                <a16:creationId xmlns:a16="http://schemas.microsoft.com/office/drawing/2014/main" id="{42AACB73-3796-4B3E-ACEB-0026CB6CDB7A}"/>
              </a:ext>
            </a:extLst>
          </p:cNvPr>
          <p:cNvSpPr>
            <a:spLocks noGrp="1"/>
          </p:cNvSpPr>
          <p:nvPr/>
        </p:nvSpPr>
        <p:spPr>
          <a:xfrm>
            <a:off x="4438650" y="475297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ML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33046EC-54A9-4C9C-B798-33B1E719DD9A}"/>
              </a:ext>
            </a:extLst>
          </p:cNvPr>
          <p:cNvSpPr>
            <a:spLocks noGrp="1"/>
          </p:cNvSpPr>
          <p:nvPr/>
        </p:nvSpPr>
        <p:spPr>
          <a:xfrm>
            <a:off x="7848600" y="3714750"/>
            <a:ext cx="342900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1CFBF6-61B6-46F4-9FA7-32BD11E599EA}"/>
              </a:ext>
            </a:extLst>
          </p:cNvPr>
          <p:cNvSpPr>
            <a:spLocks noGrp="1"/>
          </p:cNvSpPr>
          <p:nvPr/>
        </p:nvSpPr>
        <p:spPr>
          <a:xfrm>
            <a:off x="7848600" y="3714750"/>
            <a:ext cx="3429000" cy="76200"/>
          </a:xfrm>
          <a:prstGeom prst="rect">
            <a:avLst/>
          </a:prstGeom>
          <a:solidFill>
            <a:srgbClr val="6366F1"/>
          </a:solidFill>
          <a:ln w="0">
            <a:solidFill>
              <a:srgbClr val="6366F1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668E12-9D20-4318-B5B8-2FE70B10ED8C}"/>
              </a:ext>
            </a:extLst>
          </p:cNvPr>
          <p:cNvSpPr>
            <a:spLocks noGrp="1"/>
          </p:cNvSpPr>
          <p:nvPr/>
        </p:nvSpPr>
        <p:spPr>
          <a:xfrm>
            <a:off x="8020050" y="3943350"/>
            <a:ext cx="295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Streamlit + Plotly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9F96424-0FD9-49C8-B2D9-F5D659707DC5}"/>
              </a:ext>
            </a:extLst>
          </p:cNvPr>
          <p:cNvSpPr>
            <a:spLocks noGrp="1"/>
          </p:cNvSpPr>
          <p:nvPr/>
        </p:nvSpPr>
        <p:spPr>
          <a:xfrm>
            <a:off x="8020050" y="4324350"/>
            <a:ext cx="2971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Interactive dashboard and visual analytics.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7169590-5775-4575-A0AA-3559D8F2BCC9}"/>
              </a:ext>
            </a:extLst>
          </p:cNvPr>
          <p:cNvSpPr>
            <a:spLocks noGrp="1"/>
          </p:cNvSpPr>
          <p:nvPr/>
        </p:nvSpPr>
        <p:spPr>
          <a:xfrm>
            <a:off x="8020050" y="4743450"/>
            <a:ext cx="857250" cy="228600"/>
          </a:xfrm>
          <a:prstGeom prst="roundRect">
            <a:avLst>
              <a:gd name="adj" fmla="val 33333"/>
            </a:avLst>
          </a:prstGeom>
          <a:solidFill>
            <a:srgbClr val="6366F1"/>
          </a:solidFill>
          <a:ln w="0">
            <a:solidFill>
              <a:srgbClr val="6366F1"/>
            </a:solidFill>
            <a:prstDash val="solid"/>
          </a:ln>
        </p:spPr>
      </p:sp>
      <p:sp>
        <p:nvSpPr>
          <p:cNvPr id="43" name="pill-t">
            <a:extLst>
              <a:ext uri="{FF2B5EF4-FFF2-40B4-BE49-F238E27FC236}">
                <a16:creationId xmlns:a16="http://schemas.microsoft.com/office/drawing/2014/main" id="{B6918097-BA02-4364-855C-9C1432B1264B}"/>
              </a:ext>
            </a:extLst>
          </p:cNvPr>
          <p:cNvSpPr>
            <a:spLocks noGrp="1"/>
          </p:cNvSpPr>
          <p:nvPr/>
        </p:nvSpPr>
        <p:spPr>
          <a:xfrm>
            <a:off x="8020050" y="475297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</p:spTree>
    <p:extLst>
      <p:ext uri="{BB962C8B-B14F-4D97-AF65-F5344CB8AC3E}">
        <p14:creationId xmlns:p14="http://schemas.microsoft.com/office/powerpoint/2010/main" val="652065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5BB352A-2B4C-4484-AF25-A46DC631066A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1714500" cy="57150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2" name="h8">
            <a:extLst>
              <a:ext uri="{FF2B5EF4-FFF2-40B4-BE49-F238E27FC236}">
                <a16:creationId xmlns:a16="http://schemas.microsoft.com/office/drawing/2014/main" id="{6B0424ED-2E18-42B3-BEF0-AB062F1C6E7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286000" cy="285750"/>
          </a:xfrm>
          <a:prstGeom prst="roundRect">
            <a:avLst>
              <a:gd name="adj" fmla="val 26667"/>
            </a:avLst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3" name="h8-t">
            <a:extLst>
              <a:ext uri="{FF2B5EF4-FFF2-40B4-BE49-F238E27FC236}">
                <a16:creationId xmlns:a16="http://schemas.microsoft.com/office/drawing/2014/main" id="{32A57609-5A41-4B88-ACE6-791E7F11575A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08 | Engine</a:t>
            </a:r>
          </a:p>
        </p:txBody>
      </p:sp>
      <p:sp>
        <p:nvSpPr>
          <p:cNvPr id="4" name="t8">
            <a:extLst>
              <a:ext uri="{FF2B5EF4-FFF2-40B4-BE49-F238E27FC236}">
                <a16:creationId xmlns:a16="http://schemas.microsoft.com/office/drawing/2014/main" id="{22D308DB-56AD-4057-99C4-EC50B3530DFF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Semantic Matching Engine</a:t>
            </a:r>
          </a:p>
        </p:txBody>
      </p:sp>
      <p:sp>
        <p:nvSpPr>
          <p:cNvPr id="5" name="s8">
            <a:extLst>
              <a:ext uri="{FF2B5EF4-FFF2-40B4-BE49-F238E27FC236}">
                <a16:creationId xmlns:a16="http://schemas.microsoft.com/office/drawing/2014/main" id="{BAAE3F31-BEDD-4029-B471-857B92998621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semantic engine compares meaning, not just shared words.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731824-5667-48D7-B3BF-6630595BF2C0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Recruitment System | Data &amp; AI Hackathon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1E97AE-5DBC-4A20-A8F7-FF51CB7905DD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sem-left-bg">
            <a:extLst>
              <a:ext uri="{FF2B5EF4-FFF2-40B4-BE49-F238E27FC236}">
                <a16:creationId xmlns:a16="http://schemas.microsoft.com/office/drawing/2014/main" id="{E83B21D1-23AA-4B94-B7E6-6B55A9291651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4095750" cy="32766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em-left-a">
            <a:extLst>
              <a:ext uri="{FF2B5EF4-FFF2-40B4-BE49-F238E27FC236}">
                <a16:creationId xmlns:a16="http://schemas.microsoft.com/office/drawing/2014/main" id="{CACE899B-5325-4501-A32E-8DB98807B24E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76200" cy="32766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0" name="sem-left-title">
            <a:extLst>
              <a:ext uri="{FF2B5EF4-FFF2-40B4-BE49-F238E27FC236}">
                <a16:creationId xmlns:a16="http://schemas.microsoft.com/office/drawing/2014/main" id="{BE37843A-4AD7-4FD8-B7C2-4A2F8A0BDAF6}"/>
              </a:ext>
            </a:extLst>
          </p:cNvPr>
          <p:cNvSpPr>
            <a:spLocks noGrp="1"/>
          </p:cNvSpPr>
          <p:nvPr/>
        </p:nvSpPr>
        <p:spPr>
          <a:xfrm>
            <a:off x="895350" y="2171700"/>
            <a:ext cx="3676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How it works</a:t>
            </a:r>
          </a:p>
        </p:txBody>
      </p:sp>
      <p:sp>
        <p:nvSpPr>
          <p:cNvPr id="11" name="sem-left-body">
            <a:extLst>
              <a:ext uri="{FF2B5EF4-FFF2-40B4-BE49-F238E27FC236}">
                <a16:creationId xmlns:a16="http://schemas.microsoft.com/office/drawing/2014/main" id="{BDDA9E14-22BE-4F49-AF38-371CEDC235AC}"/>
              </a:ext>
            </a:extLst>
          </p:cNvPr>
          <p:cNvSpPr>
            <a:spLocks noGrp="1"/>
          </p:cNvSpPr>
          <p:nvPr/>
        </p:nvSpPr>
        <p:spPr>
          <a:xfrm>
            <a:off x="895350" y="2514600"/>
            <a:ext cx="36766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job description and each candidate profile are converted into dense embeddings.</a:t>
            </a:r>
          </a:p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Batch encoding keeps the system fast even for large candidate pools.</a:t>
            </a:r>
          </a:p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Cosine similarity measures how closely the candidate story aligns with the role.</a:t>
            </a:r>
          </a:p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engine can fall back to a lightweight similarity path if a model is unavailable.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03F7F7B-D97B-469A-A924-B35D1EBE4AC8}"/>
              </a:ext>
            </a:extLst>
          </p:cNvPr>
          <p:cNvSpPr>
            <a:spLocks noGrp="1"/>
          </p:cNvSpPr>
          <p:nvPr/>
        </p:nvSpPr>
        <p:spPr>
          <a:xfrm>
            <a:off x="5219700" y="2000250"/>
            <a:ext cx="6286500" cy="32766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D579ED7-9EF4-4D4B-8A6B-2AF322C6F566}"/>
              </a:ext>
            </a:extLst>
          </p:cNvPr>
          <p:cNvSpPr>
            <a:spLocks noGrp="1"/>
          </p:cNvSpPr>
          <p:nvPr/>
        </p:nvSpPr>
        <p:spPr>
          <a:xfrm>
            <a:off x="5467350" y="2286000"/>
            <a:ext cx="2000250" cy="704850"/>
          </a:xfrm>
          <a:prstGeom prst="roundRect">
            <a:avLst>
              <a:gd name="adj" fmla="val 10811"/>
            </a:avLst>
          </a:prstGeom>
          <a:solidFill>
            <a:srgbClr val="2563EB"/>
          </a:solidFill>
          <a:ln w="14288">
            <a:solidFill>
              <a:srgbClr val="2563EB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C35798-6D38-42FD-A995-6BF9054DB0E3}"/>
              </a:ext>
            </a:extLst>
          </p:cNvPr>
          <p:cNvSpPr>
            <a:spLocks noGrp="1"/>
          </p:cNvSpPr>
          <p:nvPr/>
        </p:nvSpPr>
        <p:spPr>
          <a:xfrm>
            <a:off x="5619750" y="241935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93" lnSpcReduction="10000"/>
          </a:bodyPr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Job description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84A3C0-CAD6-4B36-8018-DF152B9311A5}"/>
              </a:ext>
            </a:extLst>
          </p:cNvPr>
          <p:cNvSpPr>
            <a:spLocks noGrp="1"/>
          </p:cNvSpPr>
          <p:nvPr/>
        </p:nvSpPr>
        <p:spPr>
          <a:xfrm>
            <a:off x="5619750" y="2647950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docx text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4CB68D-9696-4C91-A7A1-42DB982B7853}"/>
              </a:ext>
            </a:extLst>
          </p:cNvPr>
          <p:cNvSpPr>
            <a:spLocks noGrp="1"/>
          </p:cNvSpPr>
          <p:nvPr/>
        </p:nvSpPr>
        <p:spPr>
          <a:xfrm>
            <a:off x="5467350" y="3314700"/>
            <a:ext cx="2000250" cy="704850"/>
          </a:xfrm>
          <a:prstGeom prst="roundRect">
            <a:avLst>
              <a:gd name="adj" fmla="val 10811"/>
            </a:avLst>
          </a:prstGeom>
          <a:solidFill>
            <a:srgbClr val="14B8A6"/>
          </a:solidFill>
          <a:ln w="14288">
            <a:solidFill>
              <a:srgbClr val="14B8A6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BAD679-8256-49E4-870C-B96F30840635}"/>
              </a:ext>
            </a:extLst>
          </p:cNvPr>
          <p:cNvSpPr>
            <a:spLocks noGrp="1"/>
          </p:cNvSpPr>
          <p:nvPr/>
        </p:nvSpPr>
        <p:spPr>
          <a:xfrm>
            <a:off x="5619750" y="3448050"/>
            <a:ext cx="1676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93" lnSpcReduction="10000"/>
          </a:bodyPr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Candidate resume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396888-F7FE-4F0D-B108-280C9A6E8201}"/>
              </a:ext>
            </a:extLst>
          </p:cNvPr>
          <p:cNvSpPr>
            <a:spLocks noGrp="1"/>
          </p:cNvSpPr>
          <p:nvPr/>
        </p:nvSpPr>
        <p:spPr>
          <a:xfrm>
            <a:off x="5619750" y="3676650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profile + career history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3B20A89-3036-4D4C-8C47-5A8CC9E96DA9}"/>
              </a:ext>
            </a:extLst>
          </p:cNvPr>
          <p:cNvSpPr>
            <a:spLocks noGrp="1"/>
          </p:cNvSpPr>
          <p:nvPr/>
        </p:nvSpPr>
        <p:spPr>
          <a:xfrm>
            <a:off x="7543800" y="3365046"/>
            <a:ext cx="1619250" cy="628650"/>
          </a:xfrm>
          <a:prstGeom prst="roundRect">
            <a:avLst>
              <a:gd name="adj" fmla="val 12121"/>
            </a:avLst>
          </a:prstGeom>
          <a:solidFill>
            <a:srgbClr val="111827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954BCD-0347-4EB9-9142-34201F9D29B1}"/>
              </a:ext>
            </a:extLst>
          </p:cNvPr>
          <p:cNvSpPr>
            <a:spLocks noGrp="1"/>
          </p:cNvSpPr>
          <p:nvPr/>
        </p:nvSpPr>
        <p:spPr>
          <a:xfrm>
            <a:off x="7658100" y="3648075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530"/>
          </a:bodyPr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Sentence Transformers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23C7822-7301-4DDD-A3E6-89B3EE44CB83}"/>
              </a:ext>
            </a:extLst>
          </p:cNvPr>
          <p:cNvSpPr>
            <a:spLocks noGrp="1"/>
          </p:cNvSpPr>
          <p:nvPr/>
        </p:nvSpPr>
        <p:spPr>
          <a:xfrm>
            <a:off x="9220200" y="3381375"/>
            <a:ext cx="2000250" cy="628650"/>
          </a:xfrm>
          <a:prstGeom prst="roundRect">
            <a:avLst>
              <a:gd name="adj" fmla="val 12121"/>
            </a:avLst>
          </a:prstGeom>
          <a:solidFill>
            <a:srgbClr val="10B981"/>
          </a:solidFill>
          <a:ln w="14288">
            <a:solidFill>
              <a:srgbClr val="10B981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87B67F-2DC9-4730-B4CB-9B32A22BE636}"/>
              </a:ext>
            </a:extLst>
          </p:cNvPr>
          <p:cNvSpPr>
            <a:spLocks noGrp="1"/>
          </p:cNvSpPr>
          <p:nvPr/>
        </p:nvSpPr>
        <p:spPr>
          <a:xfrm>
            <a:off x="9334500" y="3600450"/>
            <a:ext cx="1771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Semantic relevance score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3420C6-1AEA-4C44-9886-9105D67C11E7}"/>
              </a:ext>
            </a:extLst>
          </p:cNvPr>
          <p:cNvSpPr>
            <a:spLocks noGrp="1"/>
          </p:cNvSpPr>
          <p:nvPr/>
        </p:nvSpPr>
        <p:spPr>
          <a:xfrm>
            <a:off x="9334500" y="3810000"/>
            <a:ext cx="1771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higher means stronger match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AE0776-C5CA-4BDC-A137-58669958EF76}"/>
              </a:ext>
            </a:extLst>
          </p:cNvPr>
          <p:cNvSpPr>
            <a:spLocks noGrp="1"/>
          </p:cNvSpPr>
          <p:nvPr/>
        </p:nvSpPr>
        <p:spPr>
          <a:xfrm>
            <a:off x="7791450" y="44577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Batch scoring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3B377B-FBD7-4477-9CEF-4058A56C2A4F}"/>
              </a:ext>
            </a:extLst>
          </p:cNvPr>
          <p:cNvSpPr>
            <a:spLocks noGrp="1"/>
          </p:cNvSpPr>
          <p:nvPr/>
        </p:nvSpPr>
        <p:spPr>
          <a:xfrm>
            <a:off x="7429500" y="47625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ctr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Candidate chunks are scored together to keep the pipeline practical at scale.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14959AB-62FE-B245-DA94-E309447430F1}"/>
              </a:ext>
            </a:extLst>
          </p:cNvPr>
          <p:cNvSpPr>
            <a:spLocks noGrp="1"/>
          </p:cNvSpPr>
          <p:nvPr/>
        </p:nvSpPr>
        <p:spPr>
          <a:xfrm>
            <a:off x="7524750" y="2286000"/>
            <a:ext cx="1619250" cy="704850"/>
          </a:xfrm>
          <a:prstGeom prst="roundRect">
            <a:avLst>
              <a:gd name="adj" fmla="val 10811"/>
            </a:avLst>
          </a:prstGeom>
          <a:solidFill>
            <a:srgbClr val="2563EB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r>
              <a:rPr lang="en-US" sz="1300" b="1" dirty="0">
                <a:latin typeface="Aptos" panose="020B0004020202020204" pitchFamily="34" charset="0"/>
              </a:rPr>
              <a:t>Embedding Model</a:t>
            </a:r>
            <a:endParaRPr lang="en-IN" sz="1300" b="1" dirty="0">
              <a:latin typeface="Aptos" panose="020B0004020202020204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BABED8D-F541-2438-2481-E5054DDC0447}"/>
              </a:ext>
            </a:extLst>
          </p:cNvPr>
          <p:cNvSpPr>
            <a:spLocks noGrp="1"/>
          </p:cNvSpPr>
          <p:nvPr/>
        </p:nvSpPr>
        <p:spPr>
          <a:xfrm>
            <a:off x="9220200" y="2276475"/>
            <a:ext cx="2000250" cy="704850"/>
          </a:xfrm>
          <a:prstGeom prst="roundRect">
            <a:avLst>
              <a:gd name="adj" fmla="val 10811"/>
            </a:avLst>
          </a:prstGeom>
          <a:solidFill>
            <a:srgbClr val="2563EB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r>
              <a:rPr lang="en-US" sz="1300" b="1" dirty="0">
                <a:latin typeface="Aptos" panose="020B0004020202020204" pitchFamily="34" charset="0"/>
              </a:rPr>
              <a:t>Cousin Similarity</a:t>
            </a:r>
            <a:endParaRPr lang="en-IN" sz="13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37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E1E36B0D-C282-4EFB-BD0B-4DBFA6B816B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1714500" cy="57150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2" name="h9">
            <a:extLst>
              <a:ext uri="{FF2B5EF4-FFF2-40B4-BE49-F238E27FC236}">
                <a16:creationId xmlns:a16="http://schemas.microsoft.com/office/drawing/2014/main" id="{13A76C7C-1407-4951-91FF-6A482E94808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286000" cy="285750"/>
          </a:xfrm>
          <a:prstGeom prst="roundRect">
            <a:avLst>
              <a:gd name="adj" fmla="val 26667"/>
            </a:avLst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3" name="h9-t">
            <a:extLst>
              <a:ext uri="{FF2B5EF4-FFF2-40B4-BE49-F238E27FC236}">
                <a16:creationId xmlns:a16="http://schemas.microsoft.com/office/drawing/2014/main" id="{622733F9-0456-4928-AA41-0BF6E69FFD96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09 | Ranking</a:t>
            </a:r>
          </a:p>
        </p:txBody>
      </p:sp>
      <p:sp>
        <p:nvSpPr>
          <p:cNvPr id="4" name="t9">
            <a:extLst>
              <a:ext uri="{FF2B5EF4-FFF2-40B4-BE49-F238E27FC236}">
                <a16:creationId xmlns:a16="http://schemas.microsoft.com/office/drawing/2014/main" id="{8B778B78-F11A-4578-A254-604D1A00198D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Candidate Ranking Engine</a:t>
            </a:r>
          </a:p>
        </p:txBody>
      </p:sp>
      <p:sp>
        <p:nvSpPr>
          <p:cNvPr id="5" name="s9">
            <a:extLst>
              <a:ext uri="{FF2B5EF4-FFF2-40B4-BE49-F238E27FC236}">
                <a16:creationId xmlns:a16="http://schemas.microsoft.com/office/drawing/2014/main" id="{F845F388-3750-46E7-9646-F1252A5E8118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final score is a weighted blend of multiple signals, making the shortlist more balanced and defensible.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544694-C5C1-4F9D-A960-C0958F43F604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Recruitment System | Data &amp; AI Hackathon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23186B-81AB-4B30-9091-26FCC0DC5DB5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rank-left-bg">
            <a:extLst>
              <a:ext uri="{FF2B5EF4-FFF2-40B4-BE49-F238E27FC236}">
                <a16:creationId xmlns:a16="http://schemas.microsoft.com/office/drawing/2014/main" id="{71F6F692-0DCC-4CEB-BEC5-930251EAAB26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4476750" cy="32766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rank-left-a">
            <a:extLst>
              <a:ext uri="{FF2B5EF4-FFF2-40B4-BE49-F238E27FC236}">
                <a16:creationId xmlns:a16="http://schemas.microsoft.com/office/drawing/2014/main" id="{3BA4E014-078C-4563-AC1B-203FC735FCE6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76200" cy="3276600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10" name="rank-left-title">
            <a:extLst>
              <a:ext uri="{FF2B5EF4-FFF2-40B4-BE49-F238E27FC236}">
                <a16:creationId xmlns:a16="http://schemas.microsoft.com/office/drawing/2014/main" id="{AA951F41-8428-45F8-B8D2-AC54C01E46F9}"/>
              </a:ext>
            </a:extLst>
          </p:cNvPr>
          <p:cNvSpPr>
            <a:spLocks noGrp="1"/>
          </p:cNvSpPr>
          <p:nvPr/>
        </p:nvSpPr>
        <p:spPr>
          <a:xfrm>
            <a:off x="895350" y="2171700"/>
            <a:ext cx="405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Scoring logic</a:t>
            </a:r>
          </a:p>
        </p:txBody>
      </p:sp>
      <p:sp>
        <p:nvSpPr>
          <p:cNvPr id="11" name="rank-left-body">
            <a:extLst>
              <a:ext uri="{FF2B5EF4-FFF2-40B4-BE49-F238E27FC236}">
                <a16:creationId xmlns:a16="http://schemas.microsoft.com/office/drawing/2014/main" id="{69B286E5-262B-4347-A7B5-41C60EF9DCDD}"/>
              </a:ext>
            </a:extLst>
          </p:cNvPr>
          <p:cNvSpPr>
            <a:spLocks noGrp="1"/>
          </p:cNvSpPr>
          <p:nvPr/>
        </p:nvSpPr>
        <p:spPr>
          <a:xfrm>
            <a:off x="895350" y="2514600"/>
            <a:ext cx="40576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Semantic score measures the resume-to-job description fit.</a:t>
            </a:r>
          </a:p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Skill, experience, behavior, product fit, and title relevance add recruiter context.</a:t>
            </a:r>
          </a:p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weighted final score determines the deterministic rank order.</a:t>
            </a:r>
          </a:p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Explainability sits beside the score, so every rank can be justified in plain language.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B6FA58-8CC2-4CD9-B84B-0EB72DC0E446}"/>
              </a:ext>
            </a:extLst>
          </p:cNvPr>
          <p:cNvSpPr>
            <a:spLocks noGrp="1"/>
          </p:cNvSpPr>
          <p:nvPr/>
        </p:nvSpPr>
        <p:spPr>
          <a:xfrm>
            <a:off x="5410200" y="2000250"/>
            <a:ext cx="6096000" cy="32766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rank-pill">
            <a:extLst>
              <a:ext uri="{FF2B5EF4-FFF2-40B4-BE49-F238E27FC236}">
                <a16:creationId xmlns:a16="http://schemas.microsoft.com/office/drawing/2014/main" id="{D6B51F88-FBBB-4C00-8373-221C04FBCC1C}"/>
              </a:ext>
            </a:extLst>
          </p:cNvPr>
          <p:cNvSpPr>
            <a:spLocks noGrp="1"/>
          </p:cNvSpPr>
          <p:nvPr/>
        </p:nvSpPr>
        <p:spPr>
          <a:xfrm>
            <a:off x="5619750" y="2209800"/>
            <a:ext cx="1123950" cy="266700"/>
          </a:xfrm>
          <a:prstGeom prst="roundRect">
            <a:avLst>
              <a:gd name="adj" fmla="val 28571"/>
            </a:avLst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14" name="rank-pill-t">
            <a:extLst>
              <a:ext uri="{FF2B5EF4-FFF2-40B4-BE49-F238E27FC236}">
                <a16:creationId xmlns:a16="http://schemas.microsoft.com/office/drawing/2014/main" id="{D7F97D00-9A9F-4C4A-9E04-A12F718A5C5B}"/>
              </a:ext>
            </a:extLst>
          </p:cNvPr>
          <p:cNvSpPr>
            <a:spLocks noGrp="1"/>
          </p:cNvSpPr>
          <p:nvPr/>
        </p:nvSpPr>
        <p:spPr>
          <a:xfrm>
            <a:off x="5619750" y="2219325"/>
            <a:ext cx="112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 score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835DB8-F664-497E-804C-8C051DD3C0E5}"/>
              </a:ext>
            </a:extLst>
          </p:cNvPr>
          <p:cNvSpPr>
            <a:spLocks noGrp="1"/>
          </p:cNvSpPr>
          <p:nvPr/>
        </p:nvSpPr>
        <p:spPr>
          <a:xfrm>
            <a:off x="5619750" y="2609850"/>
            <a:ext cx="5524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0.25 semantic + 0.25 skill + 0.10 experience + 0.10 behavior + 0.10 product fit + 0.20 title relevance</a:t>
            </a:r>
          </a:p>
        </p:txBody>
      </p:sp>
      <p:sp>
        <p:nvSpPr>
          <p:cNvPr id="16" name="rc0">
            <a:extLst>
              <a:ext uri="{FF2B5EF4-FFF2-40B4-BE49-F238E27FC236}">
                <a16:creationId xmlns:a16="http://schemas.microsoft.com/office/drawing/2014/main" id="{B66E4C6B-B86D-4A05-86C2-3E03FD1C8BA8}"/>
              </a:ext>
            </a:extLst>
          </p:cNvPr>
          <p:cNvSpPr>
            <a:spLocks noGrp="1"/>
          </p:cNvSpPr>
          <p:nvPr/>
        </p:nvSpPr>
        <p:spPr>
          <a:xfrm>
            <a:off x="5619750" y="3867150"/>
            <a:ext cx="1257300" cy="247650"/>
          </a:xfrm>
          <a:prstGeom prst="roundRect">
            <a:avLst>
              <a:gd name="adj" fmla="val 30769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7" name="rc0-t">
            <a:extLst>
              <a:ext uri="{FF2B5EF4-FFF2-40B4-BE49-F238E27FC236}">
                <a16:creationId xmlns:a16="http://schemas.microsoft.com/office/drawing/2014/main" id="{123BF747-742F-4EA2-91C6-AD9D6BD5554B}"/>
              </a:ext>
            </a:extLst>
          </p:cNvPr>
          <p:cNvSpPr>
            <a:spLocks noGrp="1"/>
          </p:cNvSpPr>
          <p:nvPr/>
        </p:nvSpPr>
        <p:spPr>
          <a:xfrm>
            <a:off x="5619750" y="38766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Semantic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13BC2F-E2D4-4F4B-9F3E-AE54B44FCDF4}"/>
              </a:ext>
            </a:extLst>
          </p:cNvPr>
          <p:cNvSpPr>
            <a:spLocks noGrp="1"/>
          </p:cNvSpPr>
          <p:nvPr/>
        </p:nvSpPr>
        <p:spPr>
          <a:xfrm>
            <a:off x="7010400" y="38671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primary signal</a:t>
            </a:r>
          </a:p>
        </p:txBody>
      </p:sp>
      <p:sp>
        <p:nvSpPr>
          <p:cNvPr id="19" name="rc1">
            <a:extLst>
              <a:ext uri="{FF2B5EF4-FFF2-40B4-BE49-F238E27FC236}">
                <a16:creationId xmlns:a16="http://schemas.microsoft.com/office/drawing/2014/main" id="{B2360AB1-7490-483F-8F1B-3ED5CFA7456C}"/>
              </a:ext>
            </a:extLst>
          </p:cNvPr>
          <p:cNvSpPr>
            <a:spLocks noGrp="1"/>
          </p:cNvSpPr>
          <p:nvPr/>
        </p:nvSpPr>
        <p:spPr>
          <a:xfrm>
            <a:off x="8001000" y="3867150"/>
            <a:ext cx="1257300" cy="247650"/>
          </a:xfrm>
          <a:prstGeom prst="roundRect">
            <a:avLst>
              <a:gd name="adj" fmla="val 30769"/>
            </a:avLst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20" name="rc1-t">
            <a:extLst>
              <a:ext uri="{FF2B5EF4-FFF2-40B4-BE49-F238E27FC236}">
                <a16:creationId xmlns:a16="http://schemas.microsoft.com/office/drawing/2014/main" id="{DB5F512A-6E92-404B-A631-1ECCF2B3FF7C}"/>
              </a:ext>
            </a:extLst>
          </p:cNvPr>
          <p:cNvSpPr>
            <a:spLocks noGrp="1"/>
          </p:cNvSpPr>
          <p:nvPr/>
        </p:nvSpPr>
        <p:spPr>
          <a:xfrm>
            <a:off x="8001000" y="38766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Skill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C3B780-6A1A-477A-8570-F36AC0FEB5FD}"/>
              </a:ext>
            </a:extLst>
          </p:cNvPr>
          <p:cNvSpPr>
            <a:spLocks noGrp="1"/>
          </p:cNvSpPr>
          <p:nvPr/>
        </p:nvSpPr>
        <p:spPr>
          <a:xfrm>
            <a:off x="9391650" y="38671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primary signal</a:t>
            </a:r>
          </a:p>
        </p:txBody>
      </p:sp>
      <p:sp>
        <p:nvSpPr>
          <p:cNvPr id="22" name="rc2">
            <a:extLst>
              <a:ext uri="{FF2B5EF4-FFF2-40B4-BE49-F238E27FC236}">
                <a16:creationId xmlns:a16="http://schemas.microsoft.com/office/drawing/2014/main" id="{2F4A7CB5-4A28-4A1F-9BD4-1F835B223BE0}"/>
              </a:ext>
            </a:extLst>
          </p:cNvPr>
          <p:cNvSpPr>
            <a:spLocks noGrp="1"/>
          </p:cNvSpPr>
          <p:nvPr/>
        </p:nvSpPr>
        <p:spPr>
          <a:xfrm>
            <a:off x="5619750" y="4381500"/>
            <a:ext cx="1257300" cy="247650"/>
          </a:xfrm>
          <a:prstGeom prst="roundRect">
            <a:avLst>
              <a:gd name="adj" fmla="val 30769"/>
            </a:avLst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3" name="rc2-t">
            <a:extLst>
              <a:ext uri="{FF2B5EF4-FFF2-40B4-BE49-F238E27FC236}">
                <a16:creationId xmlns:a16="http://schemas.microsoft.com/office/drawing/2014/main" id="{86E39FD0-E899-4C63-90D4-CF4C57640524}"/>
              </a:ext>
            </a:extLst>
          </p:cNvPr>
          <p:cNvSpPr>
            <a:spLocks noGrp="1"/>
          </p:cNvSpPr>
          <p:nvPr/>
        </p:nvSpPr>
        <p:spPr>
          <a:xfrm>
            <a:off x="5619750" y="439102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Experience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67AE7A-A64B-4334-AE6B-2FA049160E6D}"/>
              </a:ext>
            </a:extLst>
          </p:cNvPr>
          <p:cNvSpPr>
            <a:spLocks noGrp="1"/>
          </p:cNvSpPr>
          <p:nvPr/>
        </p:nvSpPr>
        <p:spPr>
          <a:xfrm>
            <a:off x="7010400" y="43815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primary signal</a:t>
            </a:r>
          </a:p>
        </p:txBody>
      </p:sp>
      <p:sp>
        <p:nvSpPr>
          <p:cNvPr id="25" name="rc3">
            <a:extLst>
              <a:ext uri="{FF2B5EF4-FFF2-40B4-BE49-F238E27FC236}">
                <a16:creationId xmlns:a16="http://schemas.microsoft.com/office/drawing/2014/main" id="{BA53D072-2E63-47FD-B1D6-D22DF0977EBC}"/>
              </a:ext>
            </a:extLst>
          </p:cNvPr>
          <p:cNvSpPr>
            <a:spLocks noGrp="1"/>
          </p:cNvSpPr>
          <p:nvPr/>
        </p:nvSpPr>
        <p:spPr>
          <a:xfrm>
            <a:off x="8001000" y="4381500"/>
            <a:ext cx="1257300" cy="247650"/>
          </a:xfrm>
          <a:prstGeom prst="roundRect">
            <a:avLst>
              <a:gd name="adj" fmla="val 30769"/>
            </a:avLst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26" name="rc3-t">
            <a:extLst>
              <a:ext uri="{FF2B5EF4-FFF2-40B4-BE49-F238E27FC236}">
                <a16:creationId xmlns:a16="http://schemas.microsoft.com/office/drawing/2014/main" id="{0A2DB5C2-AD34-43EE-9884-D99076506E68}"/>
              </a:ext>
            </a:extLst>
          </p:cNvPr>
          <p:cNvSpPr>
            <a:spLocks noGrp="1"/>
          </p:cNvSpPr>
          <p:nvPr/>
        </p:nvSpPr>
        <p:spPr>
          <a:xfrm>
            <a:off x="8001000" y="439102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947DA3-C8DC-47F4-94DE-32BFE4D8EC81}"/>
              </a:ext>
            </a:extLst>
          </p:cNvPr>
          <p:cNvSpPr>
            <a:spLocks noGrp="1"/>
          </p:cNvSpPr>
          <p:nvPr/>
        </p:nvSpPr>
        <p:spPr>
          <a:xfrm>
            <a:off x="9391650" y="43815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supporting signal</a:t>
            </a:r>
          </a:p>
        </p:txBody>
      </p:sp>
      <p:sp>
        <p:nvSpPr>
          <p:cNvPr id="28" name="rc4">
            <a:extLst>
              <a:ext uri="{FF2B5EF4-FFF2-40B4-BE49-F238E27FC236}">
                <a16:creationId xmlns:a16="http://schemas.microsoft.com/office/drawing/2014/main" id="{43E6676E-58EC-42BA-A1A7-C0754B2DAC40}"/>
              </a:ext>
            </a:extLst>
          </p:cNvPr>
          <p:cNvSpPr>
            <a:spLocks noGrp="1"/>
          </p:cNvSpPr>
          <p:nvPr/>
        </p:nvSpPr>
        <p:spPr>
          <a:xfrm>
            <a:off x="5619750" y="4895850"/>
            <a:ext cx="1257300" cy="247650"/>
          </a:xfrm>
          <a:prstGeom prst="roundRect">
            <a:avLst>
              <a:gd name="adj" fmla="val 30769"/>
            </a:avLst>
          </a:prstGeom>
          <a:solidFill>
            <a:srgbClr val="E11D48"/>
          </a:solidFill>
          <a:ln w="0">
            <a:solidFill>
              <a:srgbClr val="E11D48"/>
            </a:solidFill>
            <a:prstDash val="solid"/>
          </a:ln>
        </p:spPr>
      </p:sp>
      <p:sp>
        <p:nvSpPr>
          <p:cNvPr id="29" name="rc4-t">
            <a:extLst>
              <a:ext uri="{FF2B5EF4-FFF2-40B4-BE49-F238E27FC236}">
                <a16:creationId xmlns:a16="http://schemas.microsoft.com/office/drawing/2014/main" id="{30706E7F-B443-4064-9972-DFCE2161B515}"/>
              </a:ext>
            </a:extLst>
          </p:cNvPr>
          <p:cNvSpPr>
            <a:spLocks noGrp="1"/>
          </p:cNvSpPr>
          <p:nvPr/>
        </p:nvSpPr>
        <p:spPr>
          <a:xfrm>
            <a:off x="5619750" y="49053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 fit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7705217-BB13-4197-9BCE-474B25CF60CD}"/>
              </a:ext>
            </a:extLst>
          </p:cNvPr>
          <p:cNvSpPr>
            <a:spLocks noGrp="1"/>
          </p:cNvSpPr>
          <p:nvPr/>
        </p:nvSpPr>
        <p:spPr>
          <a:xfrm>
            <a:off x="7010400" y="48958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supporting signal</a:t>
            </a:r>
          </a:p>
        </p:txBody>
      </p:sp>
      <p:sp>
        <p:nvSpPr>
          <p:cNvPr id="31" name="rc5">
            <a:extLst>
              <a:ext uri="{FF2B5EF4-FFF2-40B4-BE49-F238E27FC236}">
                <a16:creationId xmlns:a16="http://schemas.microsoft.com/office/drawing/2014/main" id="{42F5CCA7-81CD-4593-B417-EBB27D55F65A}"/>
              </a:ext>
            </a:extLst>
          </p:cNvPr>
          <p:cNvSpPr>
            <a:spLocks noGrp="1"/>
          </p:cNvSpPr>
          <p:nvPr/>
        </p:nvSpPr>
        <p:spPr>
          <a:xfrm>
            <a:off x="8001000" y="4895850"/>
            <a:ext cx="1257300" cy="247650"/>
          </a:xfrm>
          <a:prstGeom prst="roundRect">
            <a:avLst>
              <a:gd name="adj" fmla="val 30769"/>
            </a:avLst>
          </a:prstGeom>
          <a:solidFill>
            <a:srgbClr val="6366F1"/>
          </a:solidFill>
          <a:ln w="0">
            <a:solidFill>
              <a:srgbClr val="6366F1"/>
            </a:solidFill>
            <a:prstDash val="solid"/>
          </a:ln>
        </p:spPr>
      </p:sp>
      <p:sp>
        <p:nvSpPr>
          <p:cNvPr id="32" name="rc5-t">
            <a:extLst>
              <a:ext uri="{FF2B5EF4-FFF2-40B4-BE49-F238E27FC236}">
                <a16:creationId xmlns:a16="http://schemas.microsoft.com/office/drawing/2014/main" id="{4F15A240-EC88-4ECF-B9B6-0CBA5B737D07}"/>
              </a:ext>
            </a:extLst>
          </p:cNvPr>
          <p:cNvSpPr>
            <a:spLocks noGrp="1"/>
          </p:cNvSpPr>
          <p:nvPr/>
        </p:nvSpPr>
        <p:spPr>
          <a:xfrm>
            <a:off x="8001000" y="49053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Title relevance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308961-4823-4C34-A6C2-673AF42D9280}"/>
              </a:ext>
            </a:extLst>
          </p:cNvPr>
          <p:cNvSpPr>
            <a:spLocks noGrp="1"/>
          </p:cNvSpPr>
          <p:nvPr/>
        </p:nvSpPr>
        <p:spPr>
          <a:xfrm>
            <a:off x="9391650" y="48958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supporting signal</a:t>
            </a:r>
          </a:p>
        </p:txBody>
      </p:sp>
    </p:spTree>
    <p:extLst>
      <p:ext uri="{BB962C8B-B14F-4D97-AF65-F5344CB8AC3E}">
        <p14:creationId xmlns:p14="http://schemas.microsoft.com/office/powerpoint/2010/main" val="1062695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CE798625-D369-4105-BDDD-7570241E72CC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1714500" cy="57150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2" name="h10">
            <a:extLst>
              <a:ext uri="{FF2B5EF4-FFF2-40B4-BE49-F238E27FC236}">
                <a16:creationId xmlns:a16="http://schemas.microsoft.com/office/drawing/2014/main" id="{D0CEBDB0-7588-4A70-BC0D-071FCC40BEA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286000" cy="285750"/>
          </a:xfrm>
          <a:prstGeom prst="roundRect">
            <a:avLst>
              <a:gd name="adj" fmla="val 26667"/>
            </a:avLst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3" name="h10-t">
            <a:extLst>
              <a:ext uri="{FF2B5EF4-FFF2-40B4-BE49-F238E27FC236}">
                <a16:creationId xmlns:a16="http://schemas.microsoft.com/office/drawing/2014/main" id="{C9C48B9E-E49A-4448-B384-E4195FBBF480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 | Dashboard</a:t>
            </a:r>
          </a:p>
        </p:txBody>
      </p:sp>
      <p:sp>
        <p:nvSpPr>
          <p:cNvPr id="4" name="t10">
            <a:extLst>
              <a:ext uri="{FF2B5EF4-FFF2-40B4-BE49-F238E27FC236}">
                <a16:creationId xmlns:a16="http://schemas.microsoft.com/office/drawing/2014/main" id="{3B72D836-E4AE-4104-9AA8-3993D0EC5A07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Streamlit Dashboard</a:t>
            </a:r>
          </a:p>
        </p:txBody>
      </p:sp>
      <p:sp>
        <p:nvSpPr>
          <p:cNvPr id="5" name="s10">
            <a:extLst>
              <a:ext uri="{FF2B5EF4-FFF2-40B4-BE49-F238E27FC236}">
                <a16:creationId xmlns:a16="http://schemas.microsoft.com/office/drawing/2014/main" id="{A9571A49-D344-4CF4-97A4-5D1687967D69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dashboard makes the model useful for recruiters by turning scores into an interactive workflow.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C8C3D8-FA83-4613-B225-76BDDD611D29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Recruitment System | Data &amp; AI Hackathon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B000F9-D770-4127-9021-12ABF0E94DDF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247D53B-1833-4F2B-879F-E38E5843A68C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108204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FC4CEB-4D77-4871-A024-645A136B42C5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10820400" cy="514350"/>
          </a:xfrm>
          <a:prstGeom prst="rect">
            <a:avLst/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BC89F1-1D7B-47B2-BB6F-27636379199F}"/>
              </a:ext>
            </a:extLst>
          </p:cNvPr>
          <p:cNvSpPr>
            <a:spLocks noGrp="1"/>
          </p:cNvSpPr>
          <p:nvPr/>
        </p:nvSpPr>
        <p:spPr>
          <a:xfrm>
            <a:off x="876300" y="21526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Candidate Ranking Dashboard</a:t>
            </a:r>
          </a:p>
        </p:txBody>
      </p:sp>
      <p:sp>
        <p:nvSpPr>
          <p:cNvPr id="11" name="db-export">
            <a:extLst>
              <a:ext uri="{FF2B5EF4-FFF2-40B4-BE49-F238E27FC236}">
                <a16:creationId xmlns:a16="http://schemas.microsoft.com/office/drawing/2014/main" id="{EB6548E8-CBCD-4D52-BC8E-B6BD75CC6237}"/>
              </a:ext>
            </a:extLst>
          </p:cNvPr>
          <p:cNvSpPr>
            <a:spLocks noGrp="1"/>
          </p:cNvSpPr>
          <p:nvPr/>
        </p:nvSpPr>
        <p:spPr>
          <a:xfrm>
            <a:off x="9886950" y="2143125"/>
            <a:ext cx="1143000" cy="266700"/>
          </a:xfrm>
          <a:prstGeom prst="roundRect">
            <a:avLst>
              <a:gd name="adj" fmla="val 28571"/>
            </a:avLst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12" name="db-export-t">
            <a:extLst>
              <a:ext uri="{FF2B5EF4-FFF2-40B4-BE49-F238E27FC236}">
                <a16:creationId xmlns:a16="http://schemas.microsoft.com/office/drawing/2014/main" id="{07361AE9-76B8-4A2A-8BD4-9916E7506021}"/>
              </a:ext>
            </a:extLst>
          </p:cNvPr>
          <p:cNvSpPr>
            <a:spLocks noGrp="1"/>
          </p:cNvSpPr>
          <p:nvPr/>
        </p:nvSpPr>
        <p:spPr>
          <a:xfrm>
            <a:off x="9886950" y="21526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Export CSV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B18B47-A610-4F35-9F9A-1AEE844D1B12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2190750" cy="291465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0BA0B9-330F-482D-8D59-1C9514965B95}"/>
              </a:ext>
            </a:extLst>
          </p:cNvPr>
          <p:cNvSpPr>
            <a:spLocks noGrp="1"/>
          </p:cNvSpPr>
          <p:nvPr/>
        </p:nvSpPr>
        <p:spPr>
          <a:xfrm>
            <a:off x="857250" y="27241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Filters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131E2E4-9DD5-4D9C-8B70-A526A060A469}"/>
              </a:ext>
            </a:extLst>
          </p:cNvPr>
          <p:cNvSpPr>
            <a:spLocks noGrp="1"/>
          </p:cNvSpPr>
          <p:nvPr/>
        </p:nvSpPr>
        <p:spPr>
          <a:xfrm>
            <a:off x="857250" y="3086100"/>
            <a:ext cx="184785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A76E53-F37F-4429-821D-89D8ACA48ABA}"/>
              </a:ext>
            </a:extLst>
          </p:cNvPr>
          <p:cNvSpPr>
            <a:spLocks noGrp="1"/>
          </p:cNvSpPr>
          <p:nvPr/>
        </p:nvSpPr>
        <p:spPr>
          <a:xfrm>
            <a:off x="971550" y="314325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Title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6D3884A-2E99-4D67-964A-13749C145064}"/>
              </a:ext>
            </a:extLst>
          </p:cNvPr>
          <p:cNvSpPr>
            <a:spLocks noGrp="1"/>
          </p:cNvSpPr>
          <p:nvPr/>
        </p:nvSpPr>
        <p:spPr>
          <a:xfrm>
            <a:off x="857250" y="3505200"/>
            <a:ext cx="184785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77D0C5-CFC6-473F-B21E-0C5B65BB109E}"/>
              </a:ext>
            </a:extLst>
          </p:cNvPr>
          <p:cNvSpPr>
            <a:spLocks noGrp="1"/>
          </p:cNvSpPr>
          <p:nvPr/>
        </p:nvSpPr>
        <p:spPr>
          <a:xfrm>
            <a:off x="971550" y="356235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Experience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8C58346-5D05-4FCC-908C-912DB9DA9A08}"/>
              </a:ext>
            </a:extLst>
          </p:cNvPr>
          <p:cNvSpPr>
            <a:spLocks noGrp="1"/>
          </p:cNvSpPr>
          <p:nvPr/>
        </p:nvSpPr>
        <p:spPr>
          <a:xfrm>
            <a:off x="857250" y="3924300"/>
            <a:ext cx="184785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CF3FBD-1C35-4578-A0DE-719CEB185795}"/>
              </a:ext>
            </a:extLst>
          </p:cNvPr>
          <p:cNvSpPr>
            <a:spLocks noGrp="1"/>
          </p:cNvSpPr>
          <p:nvPr/>
        </p:nvSpPr>
        <p:spPr>
          <a:xfrm>
            <a:off x="971550" y="398145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Location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5B6969B-376C-4D56-B563-A98C0BBAA644}"/>
              </a:ext>
            </a:extLst>
          </p:cNvPr>
          <p:cNvSpPr>
            <a:spLocks noGrp="1"/>
          </p:cNvSpPr>
          <p:nvPr/>
        </p:nvSpPr>
        <p:spPr>
          <a:xfrm>
            <a:off x="857250" y="4343400"/>
            <a:ext cx="184785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5DC66E-64F4-4D94-A3F4-134E952C58C5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Work mode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908F895-0E83-45BD-B81C-644EA016F65E}"/>
              </a:ext>
            </a:extLst>
          </p:cNvPr>
          <p:cNvSpPr>
            <a:spLocks noGrp="1"/>
          </p:cNvSpPr>
          <p:nvPr/>
        </p:nvSpPr>
        <p:spPr>
          <a:xfrm>
            <a:off x="857250" y="4762500"/>
            <a:ext cx="184785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A07BF4-8F09-46AE-8083-B9DDF60100CE}"/>
              </a:ext>
            </a:extLst>
          </p:cNvPr>
          <p:cNvSpPr>
            <a:spLocks noGrp="1"/>
          </p:cNvSpPr>
          <p:nvPr/>
        </p:nvSpPr>
        <p:spPr>
          <a:xfrm>
            <a:off x="971550" y="481965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Open to work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11635D-5F23-4991-9536-CB333485455A}"/>
              </a:ext>
            </a:extLst>
          </p:cNvPr>
          <p:cNvSpPr>
            <a:spLocks noGrp="1"/>
          </p:cNvSpPr>
          <p:nvPr/>
        </p:nvSpPr>
        <p:spPr>
          <a:xfrm>
            <a:off x="2876550" y="2533650"/>
            <a:ext cx="8629650" cy="29146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A7B8DE-408B-42E8-A001-D86398EB0E6F}"/>
              </a:ext>
            </a:extLst>
          </p:cNvPr>
          <p:cNvSpPr>
            <a:spLocks noGrp="1"/>
          </p:cNvSpPr>
          <p:nvPr/>
        </p:nvSpPr>
        <p:spPr>
          <a:xfrm>
            <a:off x="3086100" y="272415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Top ranked candidates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4E234F9-7F93-4ACF-BA13-887B70457E03}"/>
              </a:ext>
            </a:extLst>
          </p:cNvPr>
          <p:cNvSpPr>
            <a:spLocks noGrp="1"/>
          </p:cNvSpPr>
          <p:nvPr/>
        </p:nvSpPr>
        <p:spPr>
          <a:xfrm>
            <a:off x="3067050" y="3048000"/>
            <a:ext cx="8191500" cy="323850"/>
          </a:xfrm>
          <a:prstGeom prst="roundRect">
            <a:avLst>
              <a:gd name="adj" fmla="val 23529"/>
            </a:avLst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C0237B-BEE0-4D11-91DD-A759D3A0B163}"/>
              </a:ext>
            </a:extLst>
          </p:cNvPr>
          <p:cNvSpPr>
            <a:spLocks noGrp="1"/>
          </p:cNvSpPr>
          <p:nvPr/>
        </p:nvSpPr>
        <p:spPr>
          <a:xfrm>
            <a:off x="3219450" y="3133725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CAND_00001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D31957-5100-4013-8695-C20B68BC3169}"/>
              </a:ext>
            </a:extLst>
          </p:cNvPr>
          <p:cNvSpPr>
            <a:spLocks noGrp="1"/>
          </p:cNvSpPr>
          <p:nvPr/>
        </p:nvSpPr>
        <p:spPr>
          <a:xfrm>
            <a:off x="4819650" y="3133725"/>
            <a:ext cx="1905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Data Scientist</a:t>
            </a:r>
          </a:p>
        </p:txBody>
      </p:sp>
      <p:sp>
        <p:nvSpPr>
          <p:cNvPr id="30" name="db0">
            <a:extLst>
              <a:ext uri="{FF2B5EF4-FFF2-40B4-BE49-F238E27FC236}">
                <a16:creationId xmlns:a16="http://schemas.microsoft.com/office/drawing/2014/main" id="{48237C80-AE6B-4466-B39A-B4D8715C6410}"/>
              </a:ext>
            </a:extLst>
          </p:cNvPr>
          <p:cNvSpPr>
            <a:spLocks noGrp="1"/>
          </p:cNvSpPr>
          <p:nvPr/>
        </p:nvSpPr>
        <p:spPr>
          <a:xfrm>
            <a:off x="9886950" y="3095625"/>
            <a:ext cx="762000" cy="209550"/>
          </a:xfrm>
          <a:prstGeom prst="roundRect">
            <a:avLst>
              <a:gd name="adj" fmla="val 36364"/>
            </a:avLst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31" name="db0-t">
            <a:extLst>
              <a:ext uri="{FF2B5EF4-FFF2-40B4-BE49-F238E27FC236}">
                <a16:creationId xmlns:a16="http://schemas.microsoft.com/office/drawing/2014/main" id="{61106538-E269-4BA8-B28F-4AAC76498052}"/>
              </a:ext>
            </a:extLst>
          </p:cNvPr>
          <p:cNvSpPr>
            <a:spLocks noGrp="1"/>
          </p:cNvSpPr>
          <p:nvPr/>
        </p:nvSpPr>
        <p:spPr>
          <a:xfrm>
            <a:off x="9886950" y="31051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96%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9986E7A-3079-4FB2-A62A-8F7748921400}"/>
              </a:ext>
            </a:extLst>
          </p:cNvPr>
          <p:cNvSpPr>
            <a:spLocks noGrp="1"/>
          </p:cNvSpPr>
          <p:nvPr/>
        </p:nvSpPr>
        <p:spPr>
          <a:xfrm>
            <a:off x="3067050" y="3467100"/>
            <a:ext cx="8191500" cy="323850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CD74B1E-27C9-4E9E-ACCD-77A168CD110C}"/>
              </a:ext>
            </a:extLst>
          </p:cNvPr>
          <p:cNvSpPr>
            <a:spLocks noGrp="1"/>
          </p:cNvSpPr>
          <p:nvPr/>
        </p:nvSpPr>
        <p:spPr>
          <a:xfrm>
            <a:off x="3219450" y="3552825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CAND_00002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F96838F-DC96-415D-8449-539215959BC6}"/>
              </a:ext>
            </a:extLst>
          </p:cNvPr>
          <p:cNvSpPr>
            <a:spLocks noGrp="1"/>
          </p:cNvSpPr>
          <p:nvPr/>
        </p:nvSpPr>
        <p:spPr>
          <a:xfrm>
            <a:off x="4819650" y="3552825"/>
            <a:ext cx="1905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ML Engineer</a:t>
            </a:r>
          </a:p>
        </p:txBody>
      </p:sp>
      <p:sp>
        <p:nvSpPr>
          <p:cNvPr id="35" name="db1">
            <a:extLst>
              <a:ext uri="{FF2B5EF4-FFF2-40B4-BE49-F238E27FC236}">
                <a16:creationId xmlns:a16="http://schemas.microsoft.com/office/drawing/2014/main" id="{9B71B792-405F-4521-BFF6-3971187FFF1B}"/>
              </a:ext>
            </a:extLst>
          </p:cNvPr>
          <p:cNvSpPr>
            <a:spLocks noGrp="1"/>
          </p:cNvSpPr>
          <p:nvPr/>
        </p:nvSpPr>
        <p:spPr>
          <a:xfrm>
            <a:off x="9886950" y="3514725"/>
            <a:ext cx="762000" cy="209550"/>
          </a:xfrm>
          <a:prstGeom prst="roundRect">
            <a:avLst>
              <a:gd name="adj" fmla="val 36364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36" name="db1-t">
            <a:extLst>
              <a:ext uri="{FF2B5EF4-FFF2-40B4-BE49-F238E27FC236}">
                <a16:creationId xmlns:a16="http://schemas.microsoft.com/office/drawing/2014/main" id="{415CAF78-E706-4E99-B36A-6071E6AC046D}"/>
              </a:ext>
            </a:extLst>
          </p:cNvPr>
          <p:cNvSpPr>
            <a:spLocks noGrp="1"/>
          </p:cNvSpPr>
          <p:nvPr/>
        </p:nvSpPr>
        <p:spPr>
          <a:xfrm>
            <a:off x="9886950" y="35242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93%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4D8C4A6-F7A6-418F-BF0A-7621BCD1FE0F}"/>
              </a:ext>
            </a:extLst>
          </p:cNvPr>
          <p:cNvSpPr>
            <a:spLocks noGrp="1"/>
          </p:cNvSpPr>
          <p:nvPr/>
        </p:nvSpPr>
        <p:spPr>
          <a:xfrm>
            <a:off x="3067050" y="3886200"/>
            <a:ext cx="8191500" cy="323850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1150850-8872-49B2-B0DB-E4588653A73A}"/>
              </a:ext>
            </a:extLst>
          </p:cNvPr>
          <p:cNvSpPr>
            <a:spLocks noGrp="1"/>
          </p:cNvSpPr>
          <p:nvPr/>
        </p:nvSpPr>
        <p:spPr>
          <a:xfrm>
            <a:off x="3219450" y="3971925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CAND_00003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B067405-52ED-4D65-A55C-9E711371993D}"/>
              </a:ext>
            </a:extLst>
          </p:cNvPr>
          <p:cNvSpPr>
            <a:spLocks noGrp="1"/>
          </p:cNvSpPr>
          <p:nvPr/>
        </p:nvSpPr>
        <p:spPr>
          <a:xfrm>
            <a:off x="4819650" y="3971925"/>
            <a:ext cx="1905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Search Engineer</a:t>
            </a:r>
          </a:p>
        </p:txBody>
      </p:sp>
      <p:sp>
        <p:nvSpPr>
          <p:cNvPr id="40" name="db2">
            <a:extLst>
              <a:ext uri="{FF2B5EF4-FFF2-40B4-BE49-F238E27FC236}">
                <a16:creationId xmlns:a16="http://schemas.microsoft.com/office/drawing/2014/main" id="{A1F0C6CB-9CA9-4847-B39D-B0C8C31A6D11}"/>
              </a:ext>
            </a:extLst>
          </p:cNvPr>
          <p:cNvSpPr>
            <a:spLocks noGrp="1"/>
          </p:cNvSpPr>
          <p:nvPr/>
        </p:nvSpPr>
        <p:spPr>
          <a:xfrm>
            <a:off x="9886950" y="3933825"/>
            <a:ext cx="762000" cy="209550"/>
          </a:xfrm>
          <a:prstGeom prst="roundRect">
            <a:avLst>
              <a:gd name="adj" fmla="val 36364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41" name="db2-t">
            <a:extLst>
              <a:ext uri="{FF2B5EF4-FFF2-40B4-BE49-F238E27FC236}">
                <a16:creationId xmlns:a16="http://schemas.microsoft.com/office/drawing/2014/main" id="{FCE74428-2FBE-456F-9BA6-E3FF2130DC95}"/>
              </a:ext>
            </a:extLst>
          </p:cNvPr>
          <p:cNvSpPr>
            <a:spLocks noGrp="1"/>
          </p:cNvSpPr>
          <p:nvPr/>
        </p:nvSpPr>
        <p:spPr>
          <a:xfrm>
            <a:off x="9886950" y="39433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90%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376EA31-3BC2-4AD6-B8F8-2D889F18DE17}"/>
              </a:ext>
            </a:extLst>
          </p:cNvPr>
          <p:cNvSpPr>
            <a:spLocks noGrp="1"/>
          </p:cNvSpPr>
          <p:nvPr/>
        </p:nvSpPr>
        <p:spPr>
          <a:xfrm>
            <a:off x="3067050" y="4305300"/>
            <a:ext cx="8191500" cy="323850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B3E7749-B66A-4A2D-B017-6CE5F527CC88}"/>
              </a:ext>
            </a:extLst>
          </p:cNvPr>
          <p:cNvSpPr>
            <a:spLocks noGrp="1"/>
          </p:cNvSpPr>
          <p:nvPr/>
        </p:nvSpPr>
        <p:spPr>
          <a:xfrm>
            <a:off x="3219450" y="4391025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CAND_00004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68D13E-A44F-429B-B09C-DE313D653602}"/>
              </a:ext>
            </a:extLst>
          </p:cNvPr>
          <p:cNvSpPr>
            <a:spLocks noGrp="1"/>
          </p:cNvSpPr>
          <p:nvPr/>
        </p:nvSpPr>
        <p:spPr>
          <a:xfrm>
            <a:off x="4819650" y="4391025"/>
            <a:ext cx="1905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Backend Engineer</a:t>
            </a:r>
          </a:p>
        </p:txBody>
      </p:sp>
      <p:sp>
        <p:nvSpPr>
          <p:cNvPr id="45" name="db3">
            <a:extLst>
              <a:ext uri="{FF2B5EF4-FFF2-40B4-BE49-F238E27FC236}">
                <a16:creationId xmlns:a16="http://schemas.microsoft.com/office/drawing/2014/main" id="{5BECDBE4-CAEE-440C-BCA4-FE26B2AD6F31}"/>
              </a:ext>
            </a:extLst>
          </p:cNvPr>
          <p:cNvSpPr>
            <a:spLocks noGrp="1"/>
          </p:cNvSpPr>
          <p:nvPr/>
        </p:nvSpPr>
        <p:spPr>
          <a:xfrm>
            <a:off x="9886950" y="4352925"/>
            <a:ext cx="762000" cy="209550"/>
          </a:xfrm>
          <a:prstGeom prst="roundRect">
            <a:avLst>
              <a:gd name="adj" fmla="val 36364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46" name="db3-t">
            <a:extLst>
              <a:ext uri="{FF2B5EF4-FFF2-40B4-BE49-F238E27FC236}">
                <a16:creationId xmlns:a16="http://schemas.microsoft.com/office/drawing/2014/main" id="{84A25B41-C801-495E-9A7A-C403C310548A}"/>
              </a:ext>
            </a:extLst>
          </p:cNvPr>
          <p:cNvSpPr>
            <a:spLocks noGrp="1"/>
          </p:cNvSpPr>
          <p:nvPr/>
        </p:nvSpPr>
        <p:spPr>
          <a:xfrm>
            <a:off x="9886950" y="43624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87%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1DE06027-68BD-403B-9995-7D1255984F7B}"/>
              </a:ext>
            </a:extLst>
          </p:cNvPr>
          <p:cNvSpPr>
            <a:spLocks noGrp="1"/>
          </p:cNvSpPr>
          <p:nvPr/>
        </p:nvSpPr>
        <p:spPr>
          <a:xfrm>
            <a:off x="3067050" y="4724400"/>
            <a:ext cx="8191500" cy="323850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D1E432B-1A47-4AA2-AA4C-C02071D04E16}"/>
              </a:ext>
            </a:extLst>
          </p:cNvPr>
          <p:cNvSpPr>
            <a:spLocks noGrp="1"/>
          </p:cNvSpPr>
          <p:nvPr/>
        </p:nvSpPr>
        <p:spPr>
          <a:xfrm>
            <a:off x="3219450" y="4810125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CAND_00005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3CB644E-7448-4506-98D8-62F6615EDD21}"/>
              </a:ext>
            </a:extLst>
          </p:cNvPr>
          <p:cNvSpPr>
            <a:spLocks noGrp="1"/>
          </p:cNvSpPr>
          <p:nvPr/>
        </p:nvSpPr>
        <p:spPr>
          <a:xfrm>
            <a:off x="4819650" y="4810125"/>
            <a:ext cx="1905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NLP Engineer</a:t>
            </a:r>
          </a:p>
        </p:txBody>
      </p:sp>
      <p:sp>
        <p:nvSpPr>
          <p:cNvPr id="50" name="db4">
            <a:extLst>
              <a:ext uri="{FF2B5EF4-FFF2-40B4-BE49-F238E27FC236}">
                <a16:creationId xmlns:a16="http://schemas.microsoft.com/office/drawing/2014/main" id="{5B9D71BA-CF6C-40C2-94D5-7050F5E62D2C}"/>
              </a:ext>
            </a:extLst>
          </p:cNvPr>
          <p:cNvSpPr>
            <a:spLocks noGrp="1"/>
          </p:cNvSpPr>
          <p:nvPr/>
        </p:nvSpPr>
        <p:spPr>
          <a:xfrm>
            <a:off x="9886950" y="4772025"/>
            <a:ext cx="762000" cy="209550"/>
          </a:xfrm>
          <a:prstGeom prst="roundRect">
            <a:avLst>
              <a:gd name="adj" fmla="val 36364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51" name="db4-t">
            <a:extLst>
              <a:ext uri="{FF2B5EF4-FFF2-40B4-BE49-F238E27FC236}">
                <a16:creationId xmlns:a16="http://schemas.microsoft.com/office/drawing/2014/main" id="{4936BDEB-AA82-4E14-BD45-632AF55B6013}"/>
              </a:ext>
            </a:extLst>
          </p:cNvPr>
          <p:cNvSpPr>
            <a:spLocks noGrp="1"/>
          </p:cNvSpPr>
          <p:nvPr/>
        </p:nvSpPr>
        <p:spPr>
          <a:xfrm>
            <a:off x="9886950" y="47815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84%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5C1D803-59CE-43D7-9200-6C947D6C7595}"/>
              </a:ext>
            </a:extLst>
          </p:cNvPr>
          <p:cNvSpPr>
            <a:spLocks noGrp="1"/>
          </p:cNvSpPr>
          <p:nvPr/>
        </p:nvSpPr>
        <p:spPr>
          <a:xfrm>
            <a:off x="3067050" y="5143500"/>
            <a:ext cx="8191500" cy="323850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00C193C-DF9B-4B31-8413-56068E2D15E1}"/>
              </a:ext>
            </a:extLst>
          </p:cNvPr>
          <p:cNvSpPr>
            <a:spLocks noGrp="1"/>
          </p:cNvSpPr>
          <p:nvPr/>
        </p:nvSpPr>
        <p:spPr>
          <a:xfrm>
            <a:off x="3219450" y="5229225"/>
            <a:ext cx="171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CAND_00006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DFAC585-B426-4EB1-90E9-3601CF9FA1D3}"/>
              </a:ext>
            </a:extLst>
          </p:cNvPr>
          <p:cNvSpPr>
            <a:spLocks noGrp="1"/>
          </p:cNvSpPr>
          <p:nvPr/>
        </p:nvSpPr>
        <p:spPr>
          <a:xfrm>
            <a:off x="4819650" y="5229225"/>
            <a:ext cx="1905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Analyst</a:t>
            </a:r>
          </a:p>
        </p:txBody>
      </p:sp>
      <p:sp>
        <p:nvSpPr>
          <p:cNvPr id="55" name="db5">
            <a:extLst>
              <a:ext uri="{FF2B5EF4-FFF2-40B4-BE49-F238E27FC236}">
                <a16:creationId xmlns:a16="http://schemas.microsoft.com/office/drawing/2014/main" id="{03C9571F-5C94-4A40-BFA5-D8656EC33D7A}"/>
              </a:ext>
            </a:extLst>
          </p:cNvPr>
          <p:cNvSpPr>
            <a:spLocks noGrp="1"/>
          </p:cNvSpPr>
          <p:nvPr/>
        </p:nvSpPr>
        <p:spPr>
          <a:xfrm>
            <a:off x="9886950" y="5191125"/>
            <a:ext cx="762000" cy="209550"/>
          </a:xfrm>
          <a:prstGeom prst="roundRect">
            <a:avLst>
              <a:gd name="adj" fmla="val 36364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56" name="db5-t">
            <a:extLst>
              <a:ext uri="{FF2B5EF4-FFF2-40B4-BE49-F238E27FC236}">
                <a16:creationId xmlns:a16="http://schemas.microsoft.com/office/drawing/2014/main" id="{3C39B94B-7516-4936-9674-5EB33023527A}"/>
              </a:ext>
            </a:extLst>
          </p:cNvPr>
          <p:cNvSpPr>
            <a:spLocks noGrp="1"/>
          </p:cNvSpPr>
          <p:nvPr/>
        </p:nvSpPr>
        <p:spPr>
          <a:xfrm>
            <a:off x="9886950" y="5200650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81%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E0C4126-C841-47CF-B7B8-2BEF62A17E91}"/>
              </a:ext>
            </a:extLst>
          </p:cNvPr>
          <p:cNvSpPr>
            <a:spLocks noGrp="1"/>
          </p:cNvSpPr>
          <p:nvPr/>
        </p:nvSpPr>
        <p:spPr>
          <a:xfrm>
            <a:off x="3067050" y="5391150"/>
            <a:ext cx="8191500" cy="495300"/>
          </a:xfrm>
          <a:prstGeom prst="roundRect">
            <a:avLst>
              <a:gd name="adj" fmla="val 15385"/>
            </a:avLst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264C103-C3DC-4155-96A0-68F542CEA29E}"/>
              </a:ext>
            </a:extLst>
          </p:cNvPr>
          <p:cNvSpPr>
            <a:spLocks noGrp="1"/>
          </p:cNvSpPr>
          <p:nvPr/>
        </p:nvSpPr>
        <p:spPr>
          <a:xfrm>
            <a:off x="3238500" y="5534025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Explainability snapshot: why selected, what matched, and where the gaps are.</a:t>
            </a:r>
          </a:p>
        </p:txBody>
      </p:sp>
    </p:spTree>
    <p:extLst>
      <p:ext uri="{BB962C8B-B14F-4D97-AF65-F5344CB8AC3E}">
        <p14:creationId xmlns:p14="http://schemas.microsoft.com/office/powerpoint/2010/main" val="331436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5505A3D-E338-4792-A4D5-68F7660FCEFA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1714500" cy="57150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2" name="h11">
            <a:extLst>
              <a:ext uri="{FF2B5EF4-FFF2-40B4-BE49-F238E27FC236}">
                <a16:creationId xmlns:a16="http://schemas.microsoft.com/office/drawing/2014/main" id="{DFB6D04A-744B-437E-9120-DC1D9024349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286000" cy="285750"/>
          </a:xfrm>
          <a:prstGeom prst="roundRect">
            <a:avLst>
              <a:gd name="adj" fmla="val 26667"/>
            </a:avLst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3" name="h11-t">
            <a:extLst>
              <a:ext uri="{FF2B5EF4-FFF2-40B4-BE49-F238E27FC236}">
                <a16:creationId xmlns:a16="http://schemas.microsoft.com/office/drawing/2014/main" id="{6A1C62D1-292B-4B81-9809-DB36B78EAEC7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 | Impact</a:t>
            </a:r>
          </a:p>
        </p:txBody>
      </p:sp>
      <p:sp>
        <p:nvSpPr>
          <p:cNvPr id="4" name="t11">
            <a:extLst>
              <a:ext uri="{FF2B5EF4-FFF2-40B4-BE49-F238E27FC236}">
                <a16:creationId xmlns:a16="http://schemas.microsoft.com/office/drawing/2014/main" id="{20319754-9556-4B87-A621-816A3C68245F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Results &amp; Benefits</a:t>
            </a:r>
          </a:p>
        </p:txBody>
      </p:sp>
      <p:sp>
        <p:nvSpPr>
          <p:cNvPr id="5" name="s11">
            <a:extLst>
              <a:ext uri="{FF2B5EF4-FFF2-40B4-BE49-F238E27FC236}">
                <a16:creationId xmlns:a16="http://schemas.microsoft.com/office/drawing/2014/main" id="{6D7759B1-4EEC-4F96-93B8-6BB488CEF0E5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system converts a noisy screening problem into a faster and more transparent workflow.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49F40D-5F54-441F-8B2F-FE68195D2030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Recruitment System | Data &amp; AI Hackathon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A58CE7-DCB7-46C4-87AD-3CD19909AB56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b0-bg">
            <a:extLst>
              <a:ext uri="{FF2B5EF4-FFF2-40B4-BE49-F238E27FC236}">
                <a16:creationId xmlns:a16="http://schemas.microsoft.com/office/drawing/2014/main" id="{5D4A90CA-AC7D-4596-A2E7-56064B0E8292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52197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b0-a">
            <a:extLst>
              <a:ext uri="{FF2B5EF4-FFF2-40B4-BE49-F238E27FC236}">
                <a16:creationId xmlns:a16="http://schemas.microsoft.com/office/drawing/2014/main" id="{EEF3E553-7034-4E3D-8910-BDBCE113E322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76200" cy="14097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0" name="b0-title">
            <a:extLst>
              <a:ext uri="{FF2B5EF4-FFF2-40B4-BE49-F238E27FC236}">
                <a16:creationId xmlns:a16="http://schemas.microsoft.com/office/drawing/2014/main" id="{42B85981-1DEB-4DC9-9956-604F235E7312}"/>
              </a:ext>
            </a:extLst>
          </p:cNvPr>
          <p:cNvSpPr>
            <a:spLocks noGrp="1"/>
          </p:cNvSpPr>
          <p:nvPr/>
        </p:nvSpPr>
        <p:spPr>
          <a:xfrm>
            <a:off x="895350" y="2209800"/>
            <a:ext cx="4800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Faster shortlisting</a:t>
            </a:r>
          </a:p>
        </p:txBody>
      </p:sp>
      <p:sp>
        <p:nvSpPr>
          <p:cNvPr id="11" name="b0-body">
            <a:extLst>
              <a:ext uri="{FF2B5EF4-FFF2-40B4-BE49-F238E27FC236}">
                <a16:creationId xmlns:a16="http://schemas.microsoft.com/office/drawing/2014/main" id="{FD5E7601-AAB5-4B64-9BFE-1734C95BA18D}"/>
              </a:ext>
            </a:extLst>
          </p:cNvPr>
          <p:cNvSpPr>
            <a:spLocks noGrp="1"/>
          </p:cNvSpPr>
          <p:nvPr/>
        </p:nvSpPr>
        <p:spPr>
          <a:xfrm>
            <a:off x="895350" y="2552700"/>
            <a:ext cx="48006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Batch scoring and automated ranking reduce the time spent on first-pass resume review.</a:t>
            </a:r>
          </a:p>
        </p:txBody>
      </p:sp>
      <p:sp>
        <p:nvSpPr>
          <p:cNvPr id="12" name="b1-bg">
            <a:extLst>
              <a:ext uri="{FF2B5EF4-FFF2-40B4-BE49-F238E27FC236}">
                <a16:creationId xmlns:a16="http://schemas.microsoft.com/office/drawing/2014/main" id="{1F8B7D3B-A3BB-4354-8537-4D544BCA01AE}"/>
              </a:ext>
            </a:extLst>
          </p:cNvPr>
          <p:cNvSpPr>
            <a:spLocks noGrp="1"/>
          </p:cNvSpPr>
          <p:nvPr/>
        </p:nvSpPr>
        <p:spPr>
          <a:xfrm>
            <a:off x="6210300" y="2038350"/>
            <a:ext cx="52197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b1-a">
            <a:extLst>
              <a:ext uri="{FF2B5EF4-FFF2-40B4-BE49-F238E27FC236}">
                <a16:creationId xmlns:a16="http://schemas.microsoft.com/office/drawing/2014/main" id="{7BCD95D4-5AA5-4DE3-A2DE-2FA26B60AE89}"/>
              </a:ext>
            </a:extLst>
          </p:cNvPr>
          <p:cNvSpPr>
            <a:spLocks noGrp="1"/>
          </p:cNvSpPr>
          <p:nvPr/>
        </p:nvSpPr>
        <p:spPr>
          <a:xfrm>
            <a:off x="6210300" y="2038350"/>
            <a:ext cx="76200" cy="1409700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14" name="b1-title">
            <a:extLst>
              <a:ext uri="{FF2B5EF4-FFF2-40B4-BE49-F238E27FC236}">
                <a16:creationId xmlns:a16="http://schemas.microsoft.com/office/drawing/2014/main" id="{63781B89-BA40-4609-90D1-74F6580A0F5B}"/>
              </a:ext>
            </a:extLst>
          </p:cNvPr>
          <p:cNvSpPr>
            <a:spLocks noGrp="1"/>
          </p:cNvSpPr>
          <p:nvPr/>
        </p:nvSpPr>
        <p:spPr>
          <a:xfrm>
            <a:off x="6419850" y="2209800"/>
            <a:ext cx="4800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Better matching</a:t>
            </a:r>
          </a:p>
        </p:txBody>
      </p:sp>
      <p:sp>
        <p:nvSpPr>
          <p:cNvPr id="15" name="b1-body">
            <a:extLst>
              <a:ext uri="{FF2B5EF4-FFF2-40B4-BE49-F238E27FC236}">
                <a16:creationId xmlns:a16="http://schemas.microsoft.com/office/drawing/2014/main" id="{61428D4B-FACB-4C7F-819A-2C010B5403F2}"/>
              </a:ext>
            </a:extLst>
          </p:cNvPr>
          <p:cNvSpPr>
            <a:spLocks noGrp="1"/>
          </p:cNvSpPr>
          <p:nvPr/>
        </p:nvSpPr>
        <p:spPr>
          <a:xfrm>
            <a:off x="6419850" y="2552700"/>
            <a:ext cx="48006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Semantic understanding improves relevance compared with pure keyword screening.</a:t>
            </a:r>
          </a:p>
        </p:txBody>
      </p:sp>
      <p:sp>
        <p:nvSpPr>
          <p:cNvPr id="16" name="b2-bg">
            <a:extLst>
              <a:ext uri="{FF2B5EF4-FFF2-40B4-BE49-F238E27FC236}">
                <a16:creationId xmlns:a16="http://schemas.microsoft.com/office/drawing/2014/main" id="{9D03166C-C1FE-4719-BAA7-9715AD8B66CD}"/>
              </a:ext>
            </a:extLst>
          </p:cNvPr>
          <p:cNvSpPr>
            <a:spLocks noGrp="1"/>
          </p:cNvSpPr>
          <p:nvPr/>
        </p:nvSpPr>
        <p:spPr>
          <a:xfrm>
            <a:off x="685800" y="3657600"/>
            <a:ext cx="52197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b2-a">
            <a:extLst>
              <a:ext uri="{FF2B5EF4-FFF2-40B4-BE49-F238E27FC236}">
                <a16:creationId xmlns:a16="http://schemas.microsoft.com/office/drawing/2014/main" id="{401E5D27-276A-478E-A946-171B1B78D169}"/>
              </a:ext>
            </a:extLst>
          </p:cNvPr>
          <p:cNvSpPr>
            <a:spLocks noGrp="1"/>
          </p:cNvSpPr>
          <p:nvPr/>
        </p:nvSpPr>
        <p:spPr>
          <a:xfrm>
            <a:off x="685800" y="3657600"/>
            <a:ext cx="76200" cy="14097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18" name="b2-title">
            <a:extLst>
              <a:ext uri="{FF2B5EF4-FFF2-40B4-BE49-F238E27FC236}">
                <a16:creationId xmlns:a16="http://schemas.microsoft.com/office/drawing/2014/main" id="{35E5A297-6DF0-40D3-B95D-BC6ED19C63D7}"/>
              </a:ext>
            </a:extLst>
          </p:cNvPr>
          <p:cNvSpPr>
            <a:spLocks noGrp="1"/>
          </p:cNvSpPr>
          <p:nvPr/>
        </p:nvSpPr>
        <p:spPr>
          <a:xfrm>
            <a:off x="895350" y="3829050"/>
            <a:ext cx="4800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Clear rationale</a:t>
            </a:r>
          </a:p>
        </p:txBody>
      </p:sp>
      <p:sp>
        <p:nvSpPr>
          <p:cNvPr id="19" name="b2-body">
            <a:extLst>
              <a:ext uri="{FF2B5EF4-FFF2-40B4-BE49-F238E27FC236}">
                <a16:creationId xmlns:a16="http://schemas.microsoft.com/office/drawing/2014/main" id="{4D1B59DD-1E2B-4B42-9239-D8C0DEC8E87D}"/>
              </a:ext>
            </a:extLst>
          </p:cNvPr>
          <p:cNvSpPr>
            <a:spLocks noGrp="1"/>
          </p:cNvSpPr>
          <p:nvPr/>
        </p:nvSpPr>
        <p:spPr>
          <a:xfrm>
            <a:off x="895350" y="4171950"/>
            <a:ext cx="48006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Explainability makes each recommendation easy to review, challenge, and defend.</a:t>
            </a:r>
          </a:p>
        </p:txBody>
      </p:sp>
      <p:sp>
        <p:nvSpPr>
          <p:cNvPr id="20" name="b3-bg">
            <a:extLst>
              <a:ext uri="{FF2B5EF4-FFF2-40B4-BE49-F238E27FC236}">
                <a16:creationId xmlns:a16="http://schemas.microsoft.com/office/drawing/2014/main" id="{D86F21D9-1F3F-4749-AABF-8CBB7C29033C}"/>
              </a:ext>
            </a:extLst>
          </p:cNvPr>
          <p:cNvSpPr>
            <a:spLocks noGrp="1"/>
          </p:cNvSpPr>
          <p:nvPr/>
        </p:nvSpPr>
        <p:spPr>
          <a:xfrm>
            <a:off x="6210300" y="3657600"/>
            <a:ext cx="52197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b3-a">
            <a:extLst>
              <a:ext uri="{FF2B5EF4-FFF2-40B4-BE49-F238E27FC236}">
                <a16:creationId xmlns:a16="http://schemas.microsoft.com/office/drawing/2014/main" id="{59199B1B-D243-43B1-89CB-EC63B9CE977A}"/>
              </a:ext>
            </a:extLst>
          </p:cNvPr>
          <p:cNvSpPr>
            <a:spLocks noGrp="1"/>
          </p:cNvSpPr>
          <p:nvPr/>
        </p:nvSpPr>
        <p:spPr>
          <a:xfrm>
            <a:off x="6210300" y="3657600"/>
            <a:ext cx="76200" cy="1409700"/>
          </a:xfrm>
          <a:prstGeom prst="rect">
            <a:avLst/>
          </a:prstGeom>
          <a:solidFill>
            <a:srgbClr val="E11D48"/>
          </a:solidFill>
          <a:ln w="0">
            <a:solidFill>
              <a:srgbClr val="E11D48"/>
            </a:solidFill>
            <a:prstDash val="solid"/>
          </a:ln>
        </p:spPr>
      </p:sp>
      <p:sp>
        <p:nvSpPr>
          <p:cNvPr id="22" name="b3-title">
            <a:extLst>
              <a:ext uri="{FF2B5EF4-FFF2-40B4-BE49-F238E27FC236}">
                <a16:creationId xmlns:a16="http://schemas.microsoft.com/office/drawing/2014/main" id="{43FA1A3C-0271-4887-B200-87D3CE0AE4EF}"/>
              </a:ext>
            </a:extLst>
          </p:cNvPr>
          <p:cNvSpPr>
            <a:spLocks noGrp="1"/>
          </p:cNvSpPr>
          <p:nvPr/>
        </p:nvSpPr>
        <p:spPr>
          <a:xfrm>
            <a:off x="6419850" y="3829050"/>
            <a:ext cx="4800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Easy handoff</a:t>
            </a:r>
          </a:p>
        </p:txBody>
      </p:sp>
      <p:sp>
        <p:nvSpPr>
          <p:cNvPr id="23" name="b3-body">
            <a:extLst>
              <a:ext uri="{FF2B5EF4-FFF2-40B4-BE49-F238E27FC236}">
                <a16:creationId xmlns:a16="http://schemas.microsoft.com/office/drawing/2014/main" id="{0600DDC1-0345-4F59-A177-AAC0BACA76CC}"/>
              </a:ext>
            </a:extLst>
          </p:cNvPr>
          <p:cNvSpPr>
            <a:spLocks noGrp="1"/>
          </p:cNvSpPr>
          <p:nvPr/>
        </p:nvSpPr>
        <p:spPr>
          <a:xfrm>
            <a:off x="6419850" y="4171950"/>
            <a:ext cx="48006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submission.csv and dashboard views make the output immediately usable by other teams.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238E92-33FF-4E4C-B666-09E8C79771C5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10820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Overall benefit: a hiring workflow that is more scalable, more consistent, and easier to explain to stakeholders.</a:t>
            </a:r>
          </a:p>
        </p:txBody>
      </p:sp>
    </p:spTree>
    <p:extLst>
      <p:ext uri="{BB962C8B-B14F-4D97-AF65-F5344CB8AC3E}">
        <p14:creationId xmlns:p14="http://schemas.microsoft.com/office/powerpoint/2010/main" val="1755164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7133877-C9EA-4A67-861D-06F2D005D5F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1714500" cy="57150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2" name="h12">
            <a:extLst>
              <a:ext uri="{FF2B5EF4-FFF2-40B4-BE49-F238E27FC236}">
                <a16:creationId xmlns:a16="http://schemas.microsoft.com/office/drawing/2014/main" id="{4CA1AFEB-7362-4F4C-A314-72354B80857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2286000" cy="285750"/>
          </a:xfrm>
          <a:prstGeom prst="roundRect">
            <a:avLst>
              <a:gd name="adj" fmla="val 26667"/>
            </a:avLst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3" name="h12-t">
            <a:extLst>
              <a:ext uri="{FF2B5EF4-FFF2-40B4-BE49-F238E27FC236}">
                <a16:creationId xmlns:a16="http://schemas.microsoft.com/office/drawing/2014/main" id="{ACB6EF66-F365-4DDC-8FEB-F346A4717853}"/>
              </a:ext>
            </a:extLst>
          </p:cNvPr>
          <p:cNvSpPr>
            <a:spLocks noGrp="1"/>
          </p:cNvSpPr>
          <p:nvPr/>
        </p:nvSpPr>
        <p:spPr>
          <a:xfrm>
            <a:off x="685800" y="40957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 | Future</a:t>
            </a:r>
          </a:p>
        </p:txBody>
      </p:sp>
      <p:sp>
        <p:nvSpPr>
          <p:cNvPr id="4" name="t12">
            <a:extLst>
              <a:ext uri="{FF2B5EF4-FFF2-40B4-BE49-F238E27FC236}">
                <a16:creationId xmlns:a16="http://schemas.microsoft.com/office/drawing/2014/main" id="{E8930187-9738-49D6-8C80-F1821B22FDA2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Future Scope &amp; Conclusion</a:t>
            </a:r>
          </a:p>
        </p:txBody>
      </p:sp>
      <p:sp>
        <p:nvSpPr>
          <p:cNvPr id="5" name="s12">
            <a:extLst>
              <a:ext uri="{FF2B5EF4-FFF2-40B4-BE49-F238E27FC236}">
                <a16:creationId xmlns:a16="http://schemas.microsoft.com/office/drawing/2014/main" id="{73996DC3-FD33-4015-A718-4612EF073F0A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core pipeline is ready for the hackathon, and it can grow into a stronger hiring intelligence platform.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553EF5-6A5C-4CE5-9802-BF244E205C36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Recruitment System | Data &amp; AI Hackathon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4A15DE-314C-4FB0-8F5A-DD10FE7C570D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CEDE9DA-872E-4F5F-BABF-009FA97A9A10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49530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fut0">
            <a:extLst>
              <a:ext uri="{FF2B5EF4-FFF2-40B4-BE49-F238E27FC236}">
                <a16:creationId xmlns:a16="http://schemas.microsoft.com/office/drawing/2014/main" id="{275557AA-8CC4-49F2-9FEB-5F81F90D3E36}"/>
              </a:ext>
            </a:extLst>
          </p:cNvPr>
          <p:cNvSpPr>
            <a:spLocks noGrp="1"/>
          </p:cNvSpPr>
          <p:nvPr/>
        </p:nvSpPr>
        <p:spPr>
          <a:xfrm>
            <a:off x="857250" y="2209800"/>
            <a:ext cx="857250" cy="26670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0" name="fut0-t">
            <a:extLst>
              <a:ext uri="{FF2B5EF4-FFF2-40B4-BE49-F238E27FC236}">
                <a16:creationId xmlns:a16="http://schemas.microsoft.com/office/drawing/2014/main" id="{76AB9C79-C66C-4614-92C0-54DF28D9DD67}"/>
              </a:ext>
            </a:extLst>
          </p:cNvPr>
          <p:cNvSpPr>
            <a:spLocks noGrp="1"/>
          </p:cNvSpPr>
          <p:nvPr/>
        </p:nvSpPr>
        <p:spPr>
          <a:xfrm>
            <a:off x="857250" y="2219325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D90092-ACB4-4866-BBF2-4F2A5818DCA6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Learn from recruiter feedback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112688-35C5-4EAE-B27D-BB7D17D809DA}"/>
              </a:ext>
            </a:extLst>
          </p:cNvPr>
          <p:cNvSpPr>
            <a:spLocks noGrp="1"/>
          </p:cNvSpPr>
          <p:nvPr/>
        </p:nvSpPr>
        <p:spPr>
          <a:xfrm>
            <a:off x="857250" y="2838450"/>
            <a:ext cx="457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 accepted/rejected outcomes to tune the scoring weights over time.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8F08FCD-9930-4933-819F-00FD7B9E267E}"/>
              </a:ext>
            </a:extLst>
          </p:cNvPr>
          <p:cNvSpPr>
            <a:spLocks noGrp="1"/>
          </p:cNvSpPr>
          <p:nvPr/>
        </p:nvSpPr>
        <p:spPr>
          <a:xfrm>
            <a:off x="685800" y="3257550"/>
            <a:ext cx="49530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fut1">
            <a:extLst>
              <a:ext uri="{FF2B5EF4-FFF2-40B4-BE49-F238E27FC236}">
                <a16:creationId xmlns:a16="http://schemas.microsoft.com/office/drawing/2014/main" id="{4FD5CC7D-4A21-4B6B-BA24-7E120AC7497D}"/>
              </a:ext>
            </a:extLst>
          </p:cNvPr>
          <p:cNvSpPr>
            <a:spLocks noGrp="1"/>
          </p:cNvSpPr>
          <p:nvPr/>
        </p:nvSpPr>
        <p:spPr>
          <a:xfrm>
            <a:off x="857250" y="3429000"/>
            <a:ext cx="857250" cy="266700"/>
          </a:xfrm>
          <a:prstGeom prst="roundRect">
            <a:avLst>
              <a:gd name="adj" fmla="val 28571"/>
            </a:avLst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15" name="fut1-t">
            <a:extLst>
              <a:ext uri="{FF2B5EF4-FFF2-40B4-BE49-F238E27FC236}">
                <a16:creationId xmlns:a16="http://schemas.microsoft.com/office/drawing/2014/main" id="{113AB0B2-771A-4827-BF3D-38804AC6086D}"/>
              </a:ext>
            </a:extLst>
          </p:cNvPr>
          <p:cNvSpPr>
            <a:spLocks noGrp="1"/>
          </p:cNvSpPr>
          <p:nvPr/>
        </p:nvSpPr>
        <p:spPr>
          <a:xfrm>
            <a:off x="857250" y="3438525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AF118C-F080-43CD-A42B-66737D16F2BF}"/>
              </a:ext>
            </a:extLst>
          </p:cNvPr>
          <p:cNvSpPr>
            <a:spLocks noGrp="1"/>
          </p:cNvSpPr>
          <p:nvPr/>
        </p:nvSpPr>
        <p:spPr>
          <a:xfrm>
            <a:off x="857250" y="379095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Extend to multiple roles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242030-5E0F-444D-A15E-89D0FA1FC4CA}"/>
              </a:ext>
            </a:extLst>
          </p:cNvPr>
          <p:cNvSpPr>
            <a:spLocks noGrp="1"/>
          </p:cNvSpPr>
          <p:nvPr/>
        </p:nvSpPr>
        <p:spPr>
          <a:xfrm>
            <a:off x="857250" y="4057650"/>
            <a:ext cx="457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Adapt the same pipeline to different job families and job descriptions.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BE076CC-0083-4D18-959A-D0A09A6F701D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49530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fut2">
            <a:extLst>
              <a:ext uri="{FF2B5EF4-FFF2-40B4-BE49-F238E27FC236}">
                <a16:creationId xmlns:a16="http://schemas.microsoft.com/office/drawing/2014/main" id="{652506B6-0103-468C-973C-A35009B4D09F}"/>
              </a:ext>
            </a:extLst>
          </p:cNvPr>
          <p:cNvSpPr>
            <a:spLocks noGrp="1"/>
          </p:cNvSpPr>
          <p:nvPr/>
        </p:nvSpPr>
        <p:spPr>
          <a:xfrm>
            <a:off x="857250" y="4648200"/>
            <a:ext cx="857250" cy="266700"/>
          </a:xfrm>
          <a:prstGeom prst="roundRect">
            <a:avLst>
              <a:gd name="adj" fmla="val 28571"/>
            </a:avLst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0" name="fut2-t">
            <a:extLst>
              <a:ext uri="{FF2B5EF4-FFF2-40B4-BE49-F238E27FC236}">
                <a16:creationId xmlns:a16="http://schemas.microsoft.com/office/drawing/2014/main" id="{6E485922-2076-453C-8B3D-3A618DD0455B}"/>
              </a:ext>
            </a:extLst>
          </p:cNvPr>
          <p:cNvSpPr>
            <a:spLocks noGrp="1"/>
          </p:cNvSpPr>
          <p:nvPr/>
        </p:nvSpPr>
        <p:spPr>
          <a:xfrm>
            <a:off x="857250" y="4657725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Improve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55D7F8-049D-4B32-B6A5-CF6ACE497F5F}"/>
              </a:ext>
            </a:extLst>
          </p:cNvPr>
          <p:cNvSpPr>
            <a:spLocks noGrp="1"/>
          </p:cNvSpPr>
          <p:nvPr/>
        </p:nvSpPr>
        <p:spPr>
          <a:xfrm>
            <a:off x="857250" y="501015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667" lnSpcReduction="10000"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Add outcome prediction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F1491D-06A8-431E-AD5D-C2551E32FCD0}"/>
              </a:ext>
            </a:extLst>
          </p:cNvPr>
          <p:cNvSpPr>
            <a:spLocks noGrp="1"/>
          </p:cNvSpPr>
          <p:nvPr/>
        </p:nvSpPr>
        <p:spPr>
          <a:xfrm>
            <a:off x="857250" y="5276850"/>
            <a:ext cx="457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38"/>
          </a:bodyPr>
          <a:lstStyle/>
          <a:p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Layer in interview and offer signals to anticipate downstream success.</a:t>
            </a:r>
          </a:p>
        </p:txBody>
      </p:sp>
      <p:sp>
        <p:nvSpPr>
          <p:cNvPr id="23" name="conclusion-bg">
            <a:extLst>
              <a:ext uri="{FF2B5EF4-FFF2-40B4-BE49-F238E27FC236}">
                <a16:creationId xmlns:a16="http://schemas.microsoft.com/office/drawing/2014/main" id="{465676E4-1490-4F9A-911D-330F4F52DA62}"/>
              </a:ext>
            </a:extLst>
          </p:cNvPr>
          <p:cNvSpPr>
            <a:spLocks noGrp="1"/>
          </p:cNvSpPr>
          <p:nvPr/>
        </p:nvSpPr>
        <p:spPr>
          <a:xfrm>
            <a:off x="6019800" y="2038350"/>
            <a:ext cx="54864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conclusion-a">
            <a:extLst>
              <a:ext uri="{FF2B5EF4-FFF2-40B4-BE49-F238E27FC236}">
                <a16:creationId xmlns:a16="http://schemas.microsoft.com/office/drawing/2014/main" id="{08A7B915-03C2-4410-9839-8A343F97895F}"/>
              </a:ext>
            </a:extLst>
          </p:cNvPr>
          <p:cNvSpPr>
            <a:spLocks noGrp="1"/>
          </p:cNvSpPr>
          <p:nvPr/>
        </p:nvSpPr>
        <p:spPr>
          <a:xfrm>
            <a:off x="6019800" y="2038350"/>
            <a:ext cx="76200" cy="3143250"/>
          </a:xfrm>
          <a:prstGeom prst="rect">
            <a:avLst/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</p:sp>
      <p:sp>
        <p:nvSpPr>
          <p:cNvPr id="25" name="conclusion-title">
            <a:extLst>
              <a:ext uri="{FF2B5EF4-FFF2-40B4-BE49-F238E27FC236}">
                <a16:creationId xmlns:a16="http://schemas.microsoft.com/office/drawing/2014/main" id="{0E47B411-260F-4F26-A4EE-30F0FCD9B1E0}"/>
              </a:ext>
            </a:extLst>
          </p:cNvPr>
          <p:cNvSpPr>
            <a:spLocks noGrp="1"/>
          </p:cNvSpPr>
          <p:nvPr/>
        </p:nvSpPr>
        <p:spPr>
          <a:xfrm>
            <a:off x="6229350" y="2209800"/>
            <a:ext cx="506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26" name="conclusion-body">
            <a:extLst>
              <a:ext uri="{FF2B5EF4-FFF2-40B4-BE49-F238E27FC236}">
                <a16:creationId xmlns:a16="http://schemas.microsoft.com/office/drawing/2014/main" id="{C7D1A864-9EED-4C07-A701-9A50FF829863}"/>
              </a:ext>
            </a:extLst>
          </p:cNvPr>
          <p:cNvSpPr>
            <a:spLocks noGrp="1"/>
          </p:cNvSpPr>
          <p:nvPr/>
        </p:nvSpPr>
        <p:spPr>
          <a:xfrm>
            <a:off x="6229350" y="2552700"/>
            <a:ext cx="50673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system combines semantic matching, modular scoring, and explainability into one recruiter-friendly workflow.</a:t>
            </a:r>
          </a:p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It is built for hackathon delivery but designed with production thinking: batching, modularity, and clear outputs.</a:t>
            </a:r>
          </a:p>
          <a:p>
            <a:pPr marL="22" indent="-12" algn="l">
              <a:spcAft>
                <a:spcPts val="8"/>
              </a:spcAft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result is a shortlist that is easier to trust, easier to present, and easier to iterate on.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8FFD6E-1D30-4323-BDF0-5E6C7427AD52}"/>
              </a:ext>
            </a:extLst>
          </p:cNvPr>
          <p:cNvSpPr>
            <a:spLocks noGrp="1"/>
          </p:cNvSpPr>
          <p:nvPr/>
        </p:nvSpPr>
        <p:spPr>
          <a:xfrm>
            <a:off x="6019800" y="5353050"/>
            <a:ext cx="5486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Thank you. This is an end-to-end recruitment assistant that turns candidate data into ranked, explainable decisions.</a:t>
            </a:r>
          </a:p>
        </p:txBody>
      </p:sp>
    </p:spTree>
    <p:extLst>
      <p:ext uri="{BB962C8B-B14F-4D97-AF65-F5344CB8AC3E}">
        <p14:creationId xmlns:p14="http://schemas.microsoft.com/office/powerpoint/2010/main" val="15305431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2012</Words>
  <Application>Microsoft Office PowerPoint</Application>
  <DocSecurity>0</DocSecurity>
  <PresentationFormat>Widescreen</PresentationFormat>
  <Paragraphs>279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Aniket Dubhashe</cp:lastModifiedBy>
  <cp:revision>1</cp:revision>
  <dcterms:created xsi:type="dcterms:W3CDTF">2026-06-24T04:03:05Z</dcterms:created>
  <dcterms:modified xsi:type="dcterms:W3CDTF">2026-06-24T04:11:35Z</dcterms:modified>
</cp:coreProperties>
</file>